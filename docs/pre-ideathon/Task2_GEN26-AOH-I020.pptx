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mbria Bold" charset="1" panose="02040803050406030204"/>
      <p:regular r:id="rId19"/>
    </p:embeddedFont>
    <p:embeddedFont>
      <p:font typeface="Cambria" charset="1" panose="02040503050406030204"/>
      <p:regular r:id="rId20"/>
    </p:embeddedFont>
    <p:embeddedFont>
      <p:font typeface="Cambria Italics" charset="1" panose="020405030504060A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fonts/font24.fntdata" Type="http://schemas.openxmlformats.org/officeDocument/2006/relationships/font"/><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2B35"/>
        </a:solidFill>
      </p:bgPr>
    </p:bg>
    <p:spTree>
      <p:nvGrpSpPr>
        <p:cNvPr id="1" name=""/>
        <p:cNvGrpSpPr/>
        <p:nvPr/>
      </p:nvGrpSpPr>
      <p:grpSpPr>
        <a:xfrm>
          <a:off x="0" y="0"/>
          <a:ext cx="0" cy="0"/>
          <a:chOff x="0" y="0"/>
          <a:chExt cx="0" cy="0"/>
        </a:xfrm>
      </p:grpSpPr>
      <p:grpSp>
        <p:nvGrpSpPr>
          <p:cNvPr name="Group 2" id="2"/>
          <p:cNvGrpSpPr/>
          <p:nvPr/>
        </p:nvGrpSpPr>
        <p:grpSpPr>
          <a:xfrm rot="5400000">
            <a:off x="13250475" y="-1845697"/>
            <a:ext cx="5567067" cy="4824412"/>
            <a:chOff x="0" y="0"/>
            <a:chExt cx="7422756" cy="6432550"/>
          </a:xfrm>
        </p:grpSpPr>
        <p:sp>
          <p:nvSpPr>
            <p:cNvPr name="Freeform 3" id="3"/>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blipFill>
              <a:blip r:embed="rId3">
                <a:alphaModFix amt="0"/>
              </a:blip>
              <a:stretch>
                <a:fillRect l="-61187" t="0" r="-61187" b="0"/>
              </a:stretch>
            </a:blipFill>
            <a:ln w="23812" cap="sq">
              <a:solidFill>
                <a:srgbClr val="4FA278"/>
              </a:solidFill>
              <a:prstDash val="solid"/>
              <a:miter/>
            </a:ln>
          </p:spPr>
        </p:sp>
      </p:grpSp>
      <p:grpSp>
        <p:nvGrpSpPr>
          <p:cNvPr name="Group 4" id="4"/>
          <p:cNvGrpSpPr/>
          <p:nvPr/>
        </p:nvGrpSpPr>
        <p:grpSpPr>
          <a:xfrm rot="5400000">
            <a:off x="15774219" y="2525554"/>
            <a:ext cx="5567067" cy="4824412"/>
            <a:chOff x="0" y="0"/>
            <a:chExt cx="7422756" cy="6432550"/>
          </a:xfrm>
        </p:grpSpPr>
        <p:sp>
          <p:nvSpPr>
            <p:cNvPr name="Freeform 5" id="5"/>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solidFill>
              <a:srgbClr val="026855">
                <a:alpha val="5882"/>
              </a:srgbClr>
            </a:solidFill>
            <a:ln w="23812" cap="sq">
              <a:solidFill>
                <a:srgbClr val="4FA278"/>
              </a:solidFill>
              <a:prstDash val="solid"/>
              <a:miter/>
            </a:ln>
          </p:spPr>
        </p:sp>
      </p:grpSp>
      <p:grpSp>
        <p:nvGrpSpPr>
          <p:cNvPr name="Group 6" id="6"/>
          <p:cNvGrpSpPr/>
          <p:nvPr/>
        </p:nvGrpSpPr>
        <p:grpSpPr>
          <a:xfrm rot="5400000">
            <a:off x="13250475" y="6896805"/>
            <a:ext cx="5567067" cy="4824412"/>
            <a:chOff x="0" y="0"/>
            <a:chExt cx="7422756" cy="6432550"/>
          </a:xfrm>
        </p:grpSpPr>
        <p:sp>
          <p:nvSpPr>
            <p:cNvPr name="Freeform 7" id="7"/>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blipFill>
              <a:blip r:embed="rId3">
                <a:alphaModFix amt="0"/>
              </a:blip>
              <a:stretch>
                <a:fillRect l="-61187" t="0" r="-61187" b="0"/>
              </a:stretch>
            </a:blipFill>
            <a:ln w="23812" cap="sq">
              <a:solidFill>
                <a:srgbClr val="4FA278"/>
              </a:solidFill>
              <a:prstDash val="solid"/>
              <a:miter/>
            </a:ln>
          </p:spPr>
        </p:sp>
      </p:grpSp>
      <p:grpSp>
        <p:nvGrpSpPr>
          <p:cNvPr name="Group 8" id="8"/>
          <p:cNvGrpSpPr/>
          <p:nvPr/>
        </p:nvGrpSpPr>
        <p:grpSpPr>
          <a:xfrm rot="5400000">
            <a:off x="9920040" y="4766310"/>
            <a:ext cx="871080" cy="754380"/>
            <a:chOff x="0" y="0"/>
            <a:chExt cx="1161440" cy="1005840"/>
          </a:xfrm>
        </p:grpSpPr>
        <p:sp>
          <p:nvSpPr>
            <p:cNvPr name="Freeform 9" id="9"/>
            <p:cNvSpPr/>
            <p:nvPr/>
          </p:nvSpPr>
          <p:spPr>
            <a:xfrm flipH="false" flipV="false" rot="0">
              <a:off x="0" y="0"/>
              <a:ext cx="1161415" cy="1005840"/>
            </a:xfrm>
            <a:custGeom>
              <a:avLst/>
              <a:gdLst/>
              <a:ahLst/>
              <a:cxnLst/>
              <a:rect r="r" b="b" t="t" l="l"/>
              <a:pathLst>
                <a:path h="1005840" w="1161415">
                  <a:moveTo>
                    <a:pt x="0" y="502920"/>
                  </a:moveTo>
                  <a:lnTo>
                    <a:pt x="251460" y="0"/>
                  </a:lnTo>
                  <a:lnTo>
                    <a:pt x="909955" y="0"/>
                  </a:lnTo>
                  <a:lnTo>
                    <a:pt x="1161415" y="502920"/>
                  </a:lnTo>
                  <a:lnTo>
                    <a:pt x="909955" y="1005840"/>
                  </a:lnTo>
                  <a:lnTo>
                    <a:pt x="251460" y="1005840"/>
                  </a:lnTo>
                  <a:close/>
                </a:path>
              </a:pathLst>
            </a:custGeom>
            <a:solidFill>
              <a:srgbClr val="7AC143"/>
            </a:solidFill>
          </p:spPr>
        </p:sp>
      </p:grpSp>
      <p:grpSp>
        <p:nvGrpSpPr>
          <p:cNvPr name="Group 10" id="10"/>
          <p:cNvGrpSpPr/>
          <p:nvPr/>
        </p:nvGrpSpPr>
        <p:grpSpPr>
          <a:xfrm rot="5400000">
            <a:off x="16274377" y="2592324"/>
            <a:ext cx="506816" cy="438912"/>
            <a:chOff x="0" y="0"/>
            <a:chExt cx="675754" cy="585216"/>
          </a:xfrm>
        </p:grpSpPr>
        <p:sp>
          <p:nvSpPr>
            <p:cNvPr name="Freeform 11" id="11"/>
            <p:cNvSpPr/>
            <p:nvPr/>
          </p:nvSpPr>
          <p:spPr>
            <a:xfrm flipH="false" flipV="false" rot="0">
              <a:off x="0" y="0"/>
              <a:ext cx="675767" cy="585216"/>
            </a:xfrm>
            <a:custGeom>
              <a:avLst/>
              <a:gdLst/>
              <a:ahLst/>
              <a:cxnLst/>
              <a:rect r="r" b="b" t="t" l="l"/>
              <a:pathLst>
                <a:path h="585216" w="675767">
                  <a:moveTo>
                    <a:pt x="0" y="292608"/>
                  </a:moveTo>
                  <a:lnTo>
                    <a:pt x="146304" y="0"/>
                  </a:lnTo>
                  <a:lnTo>
                    <a:pt x="529463" y="0"/>
                  </a:lnTo>
                  <a:lnTo>
                    <a:pt x="675767" y="292608"/>
                  </a:lnTo>
                  <a:lnTo>
                    <a:pt x="529463" y="585216"/>
                  </a:lnTo>
                  <a:lnTo>
                    <a:pt x="146304" y="585216"/>
                  </a:lnTo>
                  <a:close/>
                </a:path>
              </a:pathLst>
            </a:custGeom>
            <a:solidFill>
              <a:srgbClr val="7AC143">
                <a:alpha val="48627"/>
              </a:srgbClr>
            </a:solidFill>
          </p:spPr>
        </p:sp>
      </p:grpSp>
      <p:grpSp>
        <p:nvGrpSpPr>
          <p:cNvPr name="Group 12" id="12"/>
          <p:cNvGrpSpPr/>
          <p:nvPr/>
        </p:nvGrpSpPr>
        <p:grpSpPr>
          <a:xfrm rot="5400000">
            <a:off x="10303088" y="2160270"/>
            <a:ext cx="6414335" cy="5554980"/>
            <a:chOff x="0" y="0"/>
            <a:chExt cx="8552447" cy="7406640"/>
          </a:xfrm>
        </p:grpSpPr>
        <p:sp>
          <p:nvSpPr>
            <p:cNvPr name="Freeform 13" id="13"/>
            <p:cNvSpPr/>
            <p:nvPr/>
          </p:nvSpPr>
          <p:spPr>
            <a:xfrm flipH="false" flipV="false" rot="0">
              <a:off x="0" y="0"/>
              <a:ext cx="8552434" cy="7406640"/>
            </a:xfrm>
            <a:custGeom>
              <a:avLst/>
              <a:gdLst/>
              <a:ahLst/>
              <a:cxnLst/>
              <a:rect r="r" b="b" t="t" l="l"/>
              <a:pathLst>
                <a:path h="7406640" w="8552434">
                  <a:moveTo>
                    <a:pt x="0" y="3703320"/>
                  </a:moveTo>
                  <a:lnTo>
                    <a:pt x="1851660" y="0"/>
                  </a:lnTo>
                  <a:lnTo>
                    <a:pt x="6700774" y="0"/>
                  </a:lnTo>
                  <a:lnTo>
                    <a:pt x="8552434" y="3703320"/>
                  </a:lnTo>
                  <a:lnTo>
                    <a:pt x="6700774" y="7406640"/>
                  </a:lnTo>
                  <a:lnTo>
                    <a:pt x="1851660" y="7406640"/>
                  </a:lnTo>
                  <a:close/>
                </a:path>
              </a:pathLst>
            </a:custGeom>
            <a:solidFill>
              <a:srgbClr val="026855">
                <a:alpha val="20000"/>
              </a:srgbClr>
            </a:solidFill>
          </p:spPr>
        </p:sp>
      </p:grpSp>
      <p:grpSp>
        <p:nvGrpSpPr>
          <p:cNvPr name="Group 14" id="14"/>
          <p:cNvGrpSpPr/>
          <p:nvPr/>
        </p:nvGrpSpPr>
        <p:grpSpPr>
          <a:xfrm rot="5400000">
            <a:off x="10119255" y="7186612"/>
            <a:ext cx="1295600" cy="1125855"/>
            <a:chOff x="0" y="0"/>
            <a:chExt cx="1727467" cy="1501140"/>
          </a:xfrm>
        </p:grpSpPr>
        <p:sp>
          <p:nvSpPr>
            <p:cNvPr name="Freeform 15" id="15"/>
            <p:cNvSpPr/>
            <p:nvPr/>
          </p:nvSpPr>
          <p:spPr>
            <a:xfrm flipH="false" flipV="false" rot="0">
              <a:off x="0" y="0"/>
              <a:ext cx="1727454" cy="1501140"/>
            </a:xfrm>
            <a:custGeom>
              <a:avLst/>
              <a:gdLst/>
              <a:ahLst/>
              <a:cxnLst/>
              <a:rect r="r" b="b" t="t" l="l"/>
              <a:pathLst>
                <a:path h="1501140" w="1727454">
                  <a:moveTo>
                    <a:pt x="0" y="750570"/>
                  </a:moveTo>
                  <a:lnTo>
                    <a:pt x="375285" y="0"/>
                  </a:lnTo>
                  <a:lnTo>
                    <a:pt x="1352169" y="0"/>
                  </a:lnTo>
                  <a:lnTo>
                    <a:pt x="1727454" y="750570"/>
                  </a:lnTo>
                  <a:lnTo>
                    <a:pt x="1352169" y="1501140"/>
                  </a:lnTo>
                  <a:lnTo>
                    <a:pt x="375285" y="1501140"/>
                  </a:lnTo>
                  <a:close/>
                </a:path>
              </a:pathLst>
            </a:custGeom>
            <a:blipFill>
              <a:blip r:embed="rId3">
                <a:alphaModFix amt="0"/>
              </a:blip>
              <a:stretch>
                <a:fillRect l="-61494" t="0" r="-61494" b="0"/>
              </a:stretch>
            </a:blipFill>
            <a:ln w="28575" cap="sq">
              <a:solidFill>
                <a:srgbClr val="7AC143"/>
              </a:solidFill>
              <a:prstDash val="solid"/>
              <a:miter/>
            </a:ln>
          </p:spPr>
        </p:sp>
      </p:grpSp>
      <p:grpSp>
        <p:nvGrpSpPr>
          <p:cNvPr name="Group 16" id="16"/>
          <p:cNvGrpSpPr/>
          <p:nvPr/>
        </p:nvGrpSpPr>
        <p:grpSpPr>
          <a:xfrm rot="5400000">
            <a:off x="10710062" y="2508885"/>
            <a:ext cx="5600405" cy="4857750"/>
            <a:chOff x="0" y="0"/>
            <a:chExt cx="7467206" cy="6477000"/>
          </a:xfrm>
        </p:grpSpPr>
        <p:sp>
          <p:nvSpPr>
            <p:cNvPr name="Freeform 17" id="17"/>
            <p:cNvSpPr/>
            <p:nvPr/>
          </p:nvSpPr>
          <p:spPr>
            <a:xfrm flipH="false" flipV="false" rot="0">
              <a:off x="0" y="0"/>
              <a:ext cx="7467219" cy="6477000"/>
            </a:xfrm>
            <a:custGeom>
              <a:avLst/>
              <a:gdLst/>
              <a:ahLst/>
              <a:cxnLst/>
              <a:rect r="r" b="b" t="t" l="l"/>
              <a:pathLst>
                <a:path h="6477000" w="7467219">
                  <a:moveTo>
                    <a:pt x="0" y="3238500"/>
                  </a:moveTo>
                  <a:lnTo>
                    <a:pt x="1619250" y="0"/>
                  </a:lnTo>
                  <a:lnTo>
                    <a:pt x="5847969" y="0"/>
                  </a:lnTo>
                  <a:lnTo>
                    <a:pt x="7467219" y="3238500"/>
                  </a:lnTo>
                  <a:lnTo>
                    <a:pt x="5847969" y="6477000"/>
                  </a:lnTo>
                  <a:lnTo>
                    <a:pt x="1619250" y="6477000"/>
                  </a:lnTo>
                  <a:close/>
                </a:path>
              </a:pathLst>
            </a:custGeom>
            <a:solidFill>
              <a:srgbClr val="FFFFFF"/>
            </a:solidFill>
            <a:ln w="57150" cap="sq">
              <a:solidFill>
                <a:srgbClr val="7AC143"/>
              </a:solidFill>
              <a:prstDash val="solid"/>
              <a:miter/>
            </a:ln>
          </p:spPr>
        </p:sp>
      </p:grpSp>
      <p:grpSp>
        <p:nvGrpSpPr>
          <p:cNvPr name="Group 18" id="18"/>
          <p:cNvGrpSpPr/>
          <p:nvPr/>
        </p:nvGrpSpPr>
        <p:grpSpPr>
          <a:xfrm rot="0">
            <a:off x="12166149" y="3188970"/>
            <a:ext cx="2688222" cy="3497580"/>
            <a:chOff x="0" y="0"/>
            <a:chExt cx="3584296" cy="4663440"/>
          </a:xfrm>
        </p:grpSpPr>
        <p:sp>
          <p:nvSpPr>
            <p:cNvPr name="Freeform 19" id="19" descr="Genesis logo"/>
            <p:cNvSpPr/>
            <p:nvPr/>
          </p:nvSpPr>
          <p:spPr>
            <a:xfrm flipH="false" flipV="false" rot="0">
              <a:off x="0" y="0"/>
              <a:ext cx="3584321" cy="4663440"/>
            </a:xfrm>
            <a:custGeom>
              <a:avLst/>
              <a:gdLst/>
              <a:ahLst/>
              <a:cxnLst/>
              <a:rect r="r" b="b" t="t" l="l"/>
              <a:pathLst>
                <a:path h="4663440" w="3584321">
                  <a:moveTo>
                    <a:pt x="0" y="0"/>
                  </a:moveTo>
                  <a:lnTo>
                    <a:pt x="3584321" y="0"/>
                  </a:lnTo>
                  <a:lnTo>
                    <a:pt x="3584321" y="4663440"/>
                  </a:lnTo>
                  <a:lnTo>
                    <a:pt x="0" y="4663440"/>
                  </a:lnTo>
                  <a:lnTo>
                    <a:pt x="0" y="0"/>
                  </a:lnTo>
                  <a:close/>
                </a:path>
              </a:pathLst>
            </a:custGeom>
            <a:blipFill>
              <a:blip r:embed="rId4"/>
              <a:stretch>
                <a:fillRect l="0" t="0" r="0" b="0"/>
              </a:stretch>
            </a:blipFill>
          </p:spPr>
        </p:sp>
      </p:grpSp>
      <p:grpSp>
        <p:nvGrpSpPr>
          <p:cNvPr name="Group 20" id="20"/>
          <p:cNvGrpSpPr/>
          <p:nvPr/>
        </p:nvGrpSpPr>
        <p:grpSpPr>
          <a:xfrm rot="0">
            <a:off x="822960" y="280490"/>
            <a:ext cx="7955280" cy="1313836"/>
            <a:chOff x="0" y="0"/>
            <a:chExt cx="10607040" cy="1751781"/>
          </a:xfrm>
        </p:grpSpPr>
        <p:sp>
          <p:nvSpPr>
            <p:cNvPr name="Freeform 21" id="21"/>
            <p:cNvSpPr/>
            <p:nvPr/>
          </p:nvSpPr>
          <p:spPr>
            <a:xfrm flipH="false" flipV="false" rot="0">
              <a:off x="0" y="0"/>
              <a:ext cx="10607040" cy="1751781"/>
            </a:xfrm>
            <a:custGeom>
              <a:avLst/>
              <a:gdLst/>
              <a:ahLst/>
              <a:cxnLst/>
              <a:rect r="r" b="b" t="t" l="l"/>
              <a:pathLst>
                <a:path h="1751781" w="10607040">
                  <a:moveTo>
                    <a:pt x="0" y="0"/>
                  </a:moveTo>
                  <a:lnTo>
                    <a:pt x="10607040" y="0"/>
                  </a:lnTo>
                  <a:lnTo>
                    <a:pt x="10607040" y="1751781"/>
                  </a:lnTo>
                  <a:lnTo>
                    <a:pt x="0" y="1751781"/>
                  </a:lnTo>
                  <a:close/>
                </a:path>
              </a:pathLst>
            </a:custGeom>
            <a:blipFill>
              <a:blip r:embed="rId3">
                <a:alphaModFix amt="0"/>
              </a:blip>
              <a:stretch>
                <a:fillRect l="0" t="-99712" r="0" b="-36251"/>
              </a:stretch>
            </a:blipFill>
          </p:spPr>
        </p:sp>
        <p:sp>
          <p:nvSpPr>
            <p:cNvPr name="TextBox 22" id="22"/>
            <p:cNvSpPr txBox="true"/>
            <p:nvPr/>
          </p:nvSpPr>
          <p:spPr>
            <a:xfrm>
              <a:off x="0" y="-9525"/>
              <a:ext cx="10607040" cy="1761306"/>
            </a:xfrm>
            <a:prstGeom prst="rect">
              <a:avLst/>
            </a:prstGeom>
          </p:spPr>
          <p:txBody>
            <a:bodyPr anchor="ctr" rtlCol="false" tIns="0" lIns="0" bIns="0" rIns="0"/>
            <a:lstStyle/>
            <a:p>
              <a:pPr algn="l">
                <a:lnSpc>
                  <a:spcPts val="2160"/>
                </a:lnSpc>
              </a:pPr>
              <a:r>
                <a:rPr lang="en-US" b="true" sz="1800" spc="599">
                  <a:solidFill>
                    <a:srgbClr val="7AC143"/>
                  </a:solidFill>
                  <a:latin typeface="Cambria Bold"/>
                  <a:ea typeface="Cambria Bold"/>
                  <a:cs typeface="Cambria Bold"/>
                  <a:sym typeface="Cambria Bold"/>
                </a:rPr>
                <a:t>PRE-IDEATHON TEMPLATE</a:t>
              </a:r>
            </a:p>
          </p:txBody>
        </p:sp>
      </p:grpSp>
      <p:sp>
        <p:nvSpPr>
          <p:cNvPr name="TextBox 23" id="23"/>
          <p:cNvSpPr txBox="true"/>
          <p:nvPr/>
        </p:nvSpPr>
        <p:spPr>
          <a:xfrm rot="0">
            <a:off x="822960" y="1013608"/>
            <a:ext cx="8503920" cy="2324100"/>
          </a:xfrm>
          <a:prstGeom prst="rect">
            <a:avLst/>
          </a:prstGeom>
        </p:spPr>
        <p:txBody>
          <a:bodyPr anchor="t" rtlCol="false" tIns="0" lIns="0" bIns="0" rIns="0">
            <a:spAutoFit/>
          </a:bodyPr>
          <a:lstStyle/>
          <a:p>
            <a:pPr algn="l">
              <a:lnSpc>
                <a:spcPts val="8748"/>
              </a:lnSpc>
            </a:pPr>
            <a:r>
              <a:rPr lang="en-US" b="true" sz="8100" spc="299">
                <a:solidFill>
                  <a:srgbClr val="FFFFFF"/>
                </a:solidFill>
                <a:latin typeface="Cambria Bold"/>
                <a:ea typeface="Cambria Bold"/>
                <a:cs typeface="Cambria Bold"/>
                <a:sym typeface="Cambria Bold"/>
              </a:rPr>
              <a:t>GENESIS</a:t>
            </a:r>
          </a:p>
          <a:p>
            <a:pPr algn="l">
              <a:lnSpc>
                <a:spcPts val="8748"/>
              </a:lnSpc>
            </a:pPr>
            <a:r>
              <a:rPr lang="en-US" b="true" sz="8100" spc="299">
                <a:solidFill>
                  <a:srgbClr val="7AC143"/>
                </a:solidFill>
                <a:latin typeface="Cambria Bold"/>
                <a:ea typeface="Cambria Bold"/>
                <a:cs typeface="Cambria Bold"/>
                <a:sym typeface="Cambria Bold"/>
              </a:rPr>
              <a:t>IDEATHON</a:t>
            </a:r>
          </a:p>
        </p:txBody>
      </p:sp>
      <p:grpSp>
        <p:nvGrpSpPr>
          <p:cNvPr name="Group 24" id="24"/>
          <p:cNvGrpSpPr/>
          <p:nvPr/>
        </p:nvGrpSpPr>
        <p:grpSpPr>
          <a:xfrm rot="0">
            <a:off x="1028700" y="3512445"/>
            <a:ext cx="3178492" cy="1848824"/>
            <a:chOff x="0" y="0"/>
            <a:chExt cx="4237990" cy="2465099"/>
          </a:xfrm>
        </p:grpSpPr>
        <p:sp>
          <p:nvSpPr>
            <p:cNvPr name="Freeform 25" id="25"/>
            <p:cNvSpPr/>
            <p:nvPr/>
          </p:nvSpPr>
          <p:spPr>
            <a:xfrm flipH="false" flipV="false" rot="0">
              <a:off x="0" y="0"/>
              <a:ext cx="4237990" cy="2465099"/>
            </a:xfrm>
            <a:custGeom>
              <a:avLst/>
              <a:gdLst/>
              <a:ahLst/>
              <a:cxnLst/>
              <a:rect r="r" b="b" t="t" l="l"/>
              <a:pathLst>
                <a:path h="2465099" w="4237990">
                  <a:moveTo>
                    <a:pt x="0" y="1232550"/>
                  </a:moveTo>
                  <a:cubicBezTo>
                    <a:pt x="0" y="551888"/>
                    <a:pt x="179070" y="0"/>
                    <a:pt x="399923" y="0"/>
                  </a:cubicBezTo>
                  <a:lnTo>
                    <a:pt x="3838067" y="0"/>
                  </a:lnTo>
                  <a:cubicBezTo>
                    <a:pt x="4058920" y="0"/>
                    <a:pt x="4237990" y="551888"/>
                    <a:pt x="4237990" y="1232550"/>
                  </a:cubicBezTo>
                  <a:cubicBezTo>
                    <a:pt x="4237990" y="1913211"/>
                    <a:pt x="4058920" y="2465099"/>
                    <a:pt x="3838067" y="2465099"/>
                  </a:cubicBezTo>
                  <a:lnTo>
                    <a:pt x="399923" y="2465099"/>
                  </a:lnTo>
                  <a:cubicBezTo>
                    <a:pt x="179070" y="2465099"/>
                    <a:pt x="0" y="1913211"/>
                    <a:pt x="0" y="1232550"/>
                  </a:cubicBezTo>
                  <a:close/>
                </a:path>
              </a:pathLst>
            </a:custGeom>
            <a:blipFill>
              <a:blip r:embed="rId3">
                <a:alphaModFix amt="0"/>
              </a:blip>
              <a:stretch>
                <a:fillRect l="0" t="-17275" r="0" b="50277"/>
              </a:stretch>
            </a:blipFill>
            <a:ln w="23812" cap="sq">
              <a:solidFill>
                <a:srgbClr val="7AC143"/>
              </a:solidFill>
              <a:prstDash val="solid"/>
              <a:miter/>
            </a:ln>
          </p:spPr>
        </p:sp>
        <p:sp>
          <p:nvSpPr>
            <p:cNvPr name="TextBox 26" id="26"/>
            <p:cNvSpPr txBox="true"/>
            <p:nvPr/>
          </p:nvSpPr>
          <p:spPr>
            <a:xfrm>
              <a:off x="0" y="-9525"/>
              <a:ext cx="4237990" cy="2474624"/>
            </a:xfrm>
            <a:prstGeom prst="rect">
              <a:avLst/>
            </a:prstGeom>
          </p:spPr>
          <p:txBody>
            <a:bodyPr anchor="ctr" rtlCol="false" tIns="50800" lIns="50800" bIns="50800" rIns="50800"/>
            <a:lstStyle/>
            <a:p>
              <a:pPr algn="ctr">
                <a:lnSpc>
                  <a:spcPts val="2340"/>
                </a:lnSpc>
              </a:pPr>
              <a:r>
                <a:rPr lang="en-US" b="true" sz="1950" spc="448">
                  <a:solidFill>
                    <a:srgbClr val="FFFFFF"/>
                  </a:solidFill>
                  <a:latin typeface="Cambria Bold"/>
                  <a:ea typeface="Cambria Bold"/>
                  <a:cs typeface="Cambria Bold"/>
                  <a:sym typeface="Cambria Bold"/>
                </a:rPr>
                <a:t>INNOVITA</a:t>
              </a:r>
            </a:p>
            <a:p>
              <a:pPr algn="ctr">
                <a:lnSpc>
                  <a:spcPts val="2340"/>
                </a:lnSpc>
              </a:pPr>
              <a:r>
                <a:rPr lang="en-US" b="true" sz="1950" spc="449">
                  <a:solidFill>
                    <a:srgbClr val="FFFFFF"/>
                  </a:solidFill>
                  <a:latin typeface="Cambria Bold"/>
                  <a:ea typeface="Cambria Bold"/>
                  <a:cs typeface="Cambria Bold"/>
                  <a:sym typeface="Cambria Bold"/>
                </a:rPr>
                <a:t> DOMAIN 7</a:t>
              </a:r>
            </a:p>
          </p:txBody>
        </p:sp>
      </p:grpSp>
      <p:sp>
        <p:nvSpPr>
          <p:cNvPr name="TextBox 27" id="27"/>
          <p:cNvSpPr txBox="true"/>
          <p:nvPr/>
        </p:nvSpPr>
        <p:spPr>
          <a:xfrm rot="0">
            <a:off x="822960" y="5535930"/>
            <a:ext cx="9052560" cy="3295794"/>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FFFFFF"/>
                </a:solidFill>
                <a:latin typeface="Cambria"/>
                <a:ea typeface="Cambria"/>
                <a:cs typeface="Cambria"/>
                <a:sym typeface="Cambria"/>
              </a:rPr>
              <a:t>Team Name –INNOVITA</a:t>
            </a:r>
          </a:p>
          <a:p>
            <a:pPr algn="l" marL="488632" indent="-244316" lvl="1">
              <a:lnSpc>
                <a:spcPts val="3240"/>
              </a:lnSpc>
              <a:buFont typeface="Arial"/>
              <a:buChar char="•"/>
            </a:pPr>
            <a:r>
              <a:rPr lang="en-US" sz="2700">
                <a:solidFill>
                  <a:srgbClr val="FFFFFF"/>
                </a:solidFill>
                <a:latin typeface="Cambria"/>
                <a:ea typeface="Cambria"/>
                <a:cs typeface="Cambria"/>
                <a:sym typeface="Cambria"/>
              </a:rPr>
              <a:t>Team Members –Kanishka S , Krishiva Venkatesh , Vikas Nair , Kishorekumar Leelavinothan</a:t>
            </a:r>
          </a:p>
          <a:p>
            <a:pPr algn="l" marL="488632" indent="-244316" lvl="1">
              <a:lnSpc>
                <a:spcPts val="3240"/>
              </a:lnSpc>
              <a:buFont typeface="Arial"/>
              <a:buChar char="•"/>
            </a:pPr>
            <a:r>
              <a:rPr lang="en-US" sz="2700">
                <a:solidFill>
                  <a:srgbClr val="FFFFFF"/>
                </a:solidFill>
                <a:latin typeface="Cambria"/>
                <a:ea typeface="Cambria"/>
                <a:cs typeface="Cambria"/>
                <a:sym typeface="Cambria"/>
              </a:rPr>
              <a:t>Selected Domain –#7</a:t>
            </a:r>
          </a:p>
          <a:p>
            <a:pPr algn="l" marL="488632" indent="-244316" lvl="1">
              <a:lnSpc>
                <a:spcPts val="3240"/>
              </a:lnSpc>
              <a:buFont typeface="Arial"/>
              <a:buChar char="•"/>
            </a:pPr>
            <a:r>
              <a:rPr lang="en-US" sz="2700">
                <a:solidFill>
                  <a:srgbClr val="FFFFFF"/>
                </a:solidFill>
                <a:latin typeface="Cambria"/>
                <a:ea typeface="Cambria"/>
                <a:cs typeface="Cambria"/>
                <a:sym typeface="Cambria"/>
              </a:rPr>
              <a:t>Problem Statement – AI powered platform for students to manage studies, academic work and keep them motivated; One stop solution for all problems of a student: classes, deadlines, notes etc.</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1154353"/>
            <a:chOff x="0" y="0"/>
            <a:chExt cx="15239390" cy="1539137"/>
          </a:xfrm>
        </p:grpSpPr>
        <p:sp>
          <p:nvSpPr>
            <p:cNvPr name="Freeform 9" id="9"/>
            <p:cNvSpPr/>
            <p:nvPr/>
          </p:nvSpPr>
          <p:spPr>
            <a:xfrm flipH="false" flipV="false" rot="0">
              <a:off x="0" y="0"/>
              <a:ext cx="15239391" cy="1539137"/>
            </a:xfrm>
            <a:custGeom>
              <a:avLst/>
              <a:gdLst/>
              <a:ahLst/>
              <a:cxnLst/>
              <a:rect r="r" b="b" t="t" l="l"/>
              <a:pathLst>
                <a:path h="1539137" w="15239391">
                  <a:moveTo>
                    <a:pt x="0" y="0"/>
                  </a:moveTo>
                  <a:lnTo>
                    <a:pt x="15239391" y="0"/>
                  </a:lnTo>
                  <a:lnTo>
                    <a:pt x="15239391" y="1539137"/>
                  </a:lnTo>
                  <a:lnTo>
                    <a:pt x="0" y="1539137"/>
                  </a:lnTo>
                  <a:close/>
                </a:path>
              </a:pathLst>
            </a:custGeom>
            <a:blipFill>
              <a:blip r:embed="rId4">
                <a:alphaModFix amt="0"/>
              </a:blip>
              <a:stretch>
                <a:fillRect l="0" t="-160250" r="0" b="-125601"/>
              </a:stretch>
            </a:blipFill>
          </p:spPr>
        </p:sp>
        <p:sp>
          <p:nvSpPr>
            <p:cNvPr name="TextBox 10" id="10"/>
            <p:cNvSpPr txBox="true"/>
            <p:nvPr/>
          </p:nvSpPr>
          <p:spPr>
            <a:xfrm>
              <a:off x="0" y="0"/>
              <a:ext cx="15239390" cy="1539137"/>
            </a:xfrm>
            <a:prstGeom prst="rect">
              <a:avLst/>
            </a:prstGeom>
          </p:spPr>
          <p:txBody>
            <a:bodyPr anchor="ctr" rtlCol="false" tIns="0" lIns="0" bIns="0" rIns="0"/>
            <a:lstStyle/>
            <a:p>
              <a:pPr algn="ctr">
                <a:lnSpc>
                  <a:spcPts val="1889"/>
                </a:lnSpc>
              </a:pPr>
              <a:r>
                <a:rPr lang="en-US" sz="1575" spc="150">
                  <a:solidFill>
                    <a:srgbClr val="D3E6DD"/>
                  </a:solidFill>
                  <a:latin typeface="Cambria"/>
                  <a:ea typeface="Cambria"/>
                  <a:cs typeface="Cambria"/>
                  <a:sym typeface="Cambria"/>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5002054" y="576072"/>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DOMAIN PROBLEM IN OUR WORDS</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590115"/>
            <a:chOff x="0" y="0"/>
            <a:chExt cx="3255264" cy="2120153"/>
          </a:xfrm>
        </p:grpSpPr>
        <p:sp>
          <p:nvSpPr>
            <p:cNvPr name="Freeform 29" id="29"/>
            <p:cNvSpPr/>
            <p:nvPr/>
          </p:nvSpPr>
          <p:spPr>
            <a:xfrm flipH="false" flipV="false" rot="0">
              <a:off x="0" y="0"/>
              <a:ext cx="3255264" cy="2120153"/>
            </a:xfrm>
            <a:custGeom>
              <a:avLst/>
              <a:gdLst/>
              <a:ahLst/>
              <a:cxnLst/>
              <a:rect r="r" b="b" t="t" l="l"/>
              <a:pathLst>
                <a:path h="2120153" w="3255264">
                  <a:moveTo>
                    <a:pt x="0" y="0"/>
                  </a:moveTo>
                  <a:lnTo>
                    <a:pt x="3255264" y="0"/>
                  </a:lnTo>
                  <a:lnTo>
                    <a:pt x="3255264" y="2120153"/>
                  </a:lnTo>
                  <a:lnTo>
                    <a:pt x="0" y="2120153"/>
                  </a:lnTo>
                  <a:close/>
                </a:path>
              </a:pathLst>
            </a:custGeom>
            <a:blipFill>
              <a:blip r:embed="rId4">
                <a:alphaModFix amt="0"/>
              </a:blip>
              <a:stretch>
                <a:fillRect l="-4781" t="0" r="-4781" b="34443"/>
              </a:stretch>
            </a:blipFill>
          </p:spPr>
        </p:sp>
        <p:sp>
          <p:nvSpPr>
            <p:cNvPr name="TextBox 30" id="30"/>
            <p:cNvSpPr txBox="true"/>
            <p:nvPr/>
          </p:nvSpPr>
          <p:spPr>
            <a:xfrm>
              <a:off x="0" y="-19050"/>
              <a:ext cx="3255264" cy="2139203"/>
            </a:xfrm>
            <a:prstGeom prst="rect">
              <a:avLst/>
            </a:prstGeom>
          </p:spPr>
          <p:txBody>
            <a:bodyPr anchor="ctr" rtlCol="false" tIns="0" lIns="0" bIns="0" rIns="0"/>
            <a:lstStyle/>
            <a:p>
              <a:pPr algn="l">
                <a:lnSpc>
                  <a:spcPts val="1620"/>
                </a:lnSpc>
              </a:pPr>
              <a:r>
                <a:rPr lang="en-US" b="true" sz="1350" spc="449">
                  <a:solidFill>
                    <a:srgbClr val="5B6F6B"/>
                  </a:solidFill>
                  <a:latin typeface="Cambria Bold"/>
                  <a:ea typeface="Cambria Bold"/>
                  <a:cs typeface="Cambria Bold"/>
                  <a:sym typeface="Cambria Bold"/>
                </a:rPr>
                <a:t>TEAM</a:t>
              </a:r>
            </a:p>
            <a:p>
              <a:pPr algn="l">
                <a:lnSpc>
                  <a:spcPts val="2700"/>
                </a:lnSpc>
              </a:pPr>
              <a:r>
                <a:rPr lang="en-US" b="true" sz="2250" spc="749">
                  <a:solidFill>
                    <a:srgbClr val="026855"/>
                  </a:solidFill>
                  <a:latin typeface="Cambria Bold"/>
                  <a:ea typeface="Cambria Bold"/>
                  <a:cs typeface="Cambria Bold"/>
                  <a:sym typeface="Cambria Bold"/>
                </a:rPr>
                <a:t>INNOVITA</a:t>
              </a:r>
            </a:p>
          </p:txBody>
        </p:sp>
      </p:grpSp>
      <p:grpSp>
        <p:nvGrpSpPr>
          <p:cNvPr name="Group 31" id="31"/>
          <p:cNvGrpSpPr/>
          <p:nvPr/>
        </p:nvGrpSpPr>
        <p:grpSpPr>
          <a:xfrm rot="0">
            <a:off x="822960" y="2194560"/>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644987" y="1500691"/>
            <a:ext cx="14401800" cy="1980269"/>
            <a:chOff x="0" y="0"/>
            <a:chExt cx="19202400" cy="2640359"/>
          </a:xfrm>
        </p:grpSpPr>
        <p:sp>
          <p:nvSpPr>
            <p:cNvPr name="Freeform 36" id="36"/>
            <p:cNvSpPr/>
            <p:nvPr/>
          </p:nvSpPr>
          <p:spPr>
            <a:xfrm flipH="false" flipV="false" rot="0">
              <a:off x="0" y="0"/>
              <a:ext cx="19202400" cy="2640359"/>
            </a:xfrm>
            <a:custGeom>
              <a:avLst/>
              <a:gdLst/>
              <a:ahLst/>
              <a:cxnLst/>
              <a:rect r="r" b="b" t="t" l="l"/>
              <a:pathLst>
                <a:path h="2640359" w="19202400">
                  <a:moveTo>
                    <a:pt x="0" y="0"/>
                  </a:moveTo>
                  <a:lnTo>
                    <a:pt x="19202400" y="0"/>
                  </a:lnTo>
                  <a:lnTo>
                    <a:pt x="19202400" y="2640359"/>
                  </a:lnTo>
                  <a:lnTo>
                    <a:pt x="0" y="2640359"/>
                  </a:lnTo>
                  <a:close/>
                </a:path>
              </a:pathLst>
            </a:custGeom>
            <a:blipFill>
              <a:blip r:embed="rId4">
                <a:alphaModFix amt="0"/>
              </a:blip>
              <a:stretch>
                <a:fillRect l="0" t="-122660" r="0" b="-60755"/>
              </a:stretch>
            </a:blipFill>
          </p:spPr>
        </p:sp>
        <p:sp>
          <p:nvSpPr>
            <p:cNvPr name="TextBox 37" id="37"/>
            <p:cNvSpPr txBox="true"/>
            <p:nvPr/>
          </p:nvSpPr>
          <p:spPr>
            <a:xfrm>
              <a:off x="0" y="-19050"/>
              <a:ext cx="19202400" cy="2659409"/>
            </a:xfrm>
            <a:prstGeom prst="rect">
              <a:avLst/>
            </a:prstGeom>
          </p:spPr>
          <p:txBody>
            <a:bodyPr anchor="ctr" rtlCol="false" tIns="0" lIns="0" bIns="0" rIns="0"/>
            <a:lstStyle/>
            <a:p>
              <a:pPr algn="l">
                <a:lnSpc>
                  <a:spcPts val="3240"/>
                </a:lnSpc>
              </a:pPr>
              <a:r>
                <a:rPr lang="en-US" b="true" sz="2700">
                  <a:solidFill>
                    <a:srgbClr val="094542"/>
                  </a:solidFill>
                  <a:latin typeface="Cambria Bold"/>
                  <a:ea typeface="Cambria Bold"/>
                  <a:cs typeface="Cambria Bold"/>
                  <a:sym typeface="Cambria Bold"/>
                </a:rPr>
                <a:t>Explain the problem in your domain simply, in your own words</a:t>
              </a:r>
            </a:p>
          </p:txBody>
        </p:sp>
      </p:grpSp>
      <p:sp>
        <p:nvSpPr>
          <p:cNvPr name="TextBox 38" id="38"/>
          <p:cNvSpPr txBox="true"/>
          <p:nvPr/>
        </p:nvSpPr>
        <p:spPr>
          <a:xfrm rot="0">
            <a:off x="1378458" y="2971926"/>
            <a:ext cx="15636240" cy="5343759"/>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26855"/>
                </a:solidFill>
                <a:latin typeface="Cambria"/>
                <a:ea typeface="Cambria"/>
                <a:cs typeface="Cambria"/>
                <a:sym typeface="Cambria"/>
              </a:rPr>
              <a:t>What exactly needs to be solved?</a:t>
            </a:r>
          </a:p>
          <a:p>
            <a:pPr algn="l" marL="488632" indent="-244316" lvl="1">
              <a:lnSpc>
                <a:spcPts val="3240"/>
              </a:lnSpc>
              <a:buFont typeface="Arial"/>
              <a:buChar char="•"/>
            </a:pPr>
            <a:r>
              <a:rPr lang="en-US" sz="2700">
                <a:solidFill>
                  <a:srgbClr val="026855"/>
                </a:solidFill>
                <a:latin typeface="Cambria"/>
                <a:ea typeface="Cambria"/>
                <a:cs typeface="Cambria"/>
                <a:sym typeface="Cambria"/>
              </a:rPr>
              <a:t>Students have to handle classes, deadlines, notes, and revisions through too many separate apps and chats. As everything is separated, things may get missed, and exams becomes a rush job. Another major issue faced by students is lacking consistency and motivation. Also students lack connections with other students of the same institution , which would guide them and give updates and suggestions regarding academic works. Hence students need one app that will keep them organized, will show their progress, and will allow them to do quick revision and connect them with other students as well.</a:t>
            </a:r>
          </a:p>
          <a:p>
            <a:pPr algn="l" marL="488632" indent="-244316" lvl="1">
              <a:lnSpc>
                <a:spcPts val="3240"/>
              </a:lnSpc>
              <a:buFont typeface="Arial"/>
              <a:buChar char="•"/>
            </a:pPr>
            <a:r>
              <a:rPr lang="en-US" sz="2700">
                <a:solidFill>
                  <a:srgbClr val="026855"/>
                </a:solidFill>
                <a:latin typeface="Cambria"/>
                <a:ea typeface="Cambria"/>
                <a:cs typeface="Cambria"/>
                <a:sym typeface="Cambria"/>
              </a:rPr>
              <a:t>Why is it important right now?</a:t>
            </a:r>
          </a:p>
          <a:p>
            <a:pPr algn="l" marL="488632" indent="-244316" lvl="1">
              <a:lnSpc>
                <a:spcPts val="3240"/>
              </a:lnSpc>
              <a:buFont typeface="Arial"/>
              <a:buChar char="•"/>
            </a:pPr>
            <a:r>
              <a:rPr lang="en-US" sz="2700">
                <a:solidFill>
                  <a:srgbClr val="026855"/>
                </a:solidFill>
                <a:latin typeface="Cambria"/>
                <a:ea typeface="Cambria"/>
                <a:cs typeface="Cambria"/>
                <a:sym typeface="Cambria"/>
              </a:rPr>
              <a:t>Students get stressed when they are having extensive workload and a hectic schedule. They find difficulty in organizing academic data and putting them on track. Students are feared of missing out information and lack motivation when things get piled up . We have designed this app to sort out all such issues and bring out students from a stressful environment and guide them progressively throughout their study journey and pillar the mental health of students.</a:t>
            </a:r>
          </a:p>
        </p:txBody>
      </p:sp>
      <p:grpSp>
        <p:nvGrpSpPr>
          <p:cNvPr name="Group 39" id="39"/>
          <p:cNvGrpSpPr/>
          <p:nvPr/>
        </p:nvGrpSpPr>
        <p:grpSpPr>
          <a:xfrm rot="0">
            <a:off x="16888511" y="9614916"/>
            <a:ext cx="685800" cy="1207544"/>
            <a:chOff x="0" y="0"/>
            <a:chExt cx="914400" cy="1610058"/>
          </a:xfrm>
        </p:grpSpPr>
        <p:sp>
          <p:nvSpPr>
            <p:cNvPr name="Freeform 40" id="40"/>
            <p:cNvSpPr/>
            <p:nvPr/>
          </p:nvSpPr>
          <p:spPr>
            <a:xfrm flipH="false" flipV="false" rot="0">
              <a:off x="0" y="0"/>
              <a:ext cx="914400" cy="1610058"/>
            </a:xfrm>
            <a:custGeom>
              <a:avLst/>
              <a:gdLst/>
              <a:ahLst/>
              <a:cxnLst/>
              <a:rect r="r" b="b" t="t" l="l"/>
              <a:pathLst>
                <a:path h="1610058" w="914400">
                  <a:moveTo>
                    <a:pt x="0" y="0"/>
                  </a:moveTo>
                  <a:lnTo>
                    <a:pt x="914400" y="0"/>
                  </a:lnTo>
                  <a:lnTo>
                    <a:pt x="914400" y="1610058"/>
                  </a:lnTo>
                  <a:lnTo>
                    <a:pt x="0" y="1610058"/>
                  </a:lnTo>
                  <a:close/>
                </a:path>
              </a:pathLst>
            </a:custGeom>
            <a:blipFill>
              <a:blip r:embed="rId4">
                <a:alphaModFix amt="0"/>
              </a:blip>
              <a:stretch>
                <a:fillRect l="-61110" t="0" r="-61110" b="50817"/>
              </a:stretch>
            </a:blipFill>
          </p:spPr>
        </p:sp>
        <p:sp>
          <p:nvSpPr>
            <p:cNvPr name="TextBox 41" id="41"/>
            <p:cNvSpPr txBox="true"/>
            <p:nvPr/>
          </p:nvSpPr>
          <p:spPr>
            <a:xfrm>
              <a:off x="0" y="0"/>
              <a:ext cx="914400" cy="1610058"/>
            </a:xfrm>
            <a:prstGeom prst="rect">
              <a:avLst/>
            </a:prstGeom>
          </p:spPr>
          <p:txBody>
            <a:bodyPr anchor="ctr" rtlCol="false" tIns="0" lIns="0" bIns="0" rIns="0"/>
            <a:lstStyle/>
            <a:p>
              <a:pPr algn="ctr">
                <a:lnSpc>
                  <a:spcPts val="1980"/>
                </a:lnSpc>
              </a:pPr>
              <a:r>
                <a:rPr lang="en-US" sz="1650" b="true">
                  <a:solidFill>
                    <a:srgbClr val="052B35"/>
                  </a:solidFill>
                  <a:latin typeface="Cambria Bold"/>
                  <a:ea typeface="Cambria Bold"/>
                  <a:cs typeface="Cambria Bold"/>
                  <a:sym typeface="Cambria Bold"/>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1154353"/>
            <a:chOff x="0" y="0"/>
            <a:chExt cx="15239390" cy="1539137"/>
          </a:xfrm>
        </p:grpSpPr>
        <p:sp>
          <p:nvSpPr>
            <p:cNvPr name="Freeform 9" id="9"/>
            <p:cNvSpPr/>
            <p:nvPr/>
          </p:nvSpPr>
          <p:spPr>
            <a:xfrm flipH="false" flipV="false" rot="0">
              <a:off x="0" y="0"/>
              <a:ext cx="15239391" cy="1539137"/>
            </a:xfrm>
            <a:custGeom>
              <a:avLst/>
              <a:gdLst/>
              <a:ahLst/>
              <a:cxnLst/>
              <a:rect r="r" b="b" t="t" l="l"/>
              <a:pathLst>
                <a:path h="1539137" w="15239391">
                  <a:moveTo>
                    <a:pt x="0" y="0"/>
                  </a:moveTo>
                  <a:lnTo>
                    <a:pt x="15239391" y="0"/>
                  </a:lnTo>
                  <a:lnTo>
                    <a:pt x="15239391" y="1539137"/>
                  </a:lnTo>
                  <a:lnTo>
                    <a:pt x="0" y="1539137"/>
                  </a:lnTo>
                  <a:close/>
                </a:path>
              </a:pathLst>
            </a:custGeom>
            <a:blipFill>
              <a:blip r:embed="rId4">
                <a:alphaModFix amt="0"/>
              </a:blip>
              <a:stretch>
                <a:fillRect l="0" t="-160250" r="0" b="-125601"/>
              </a:stretch>
            </a:blipFill>
          </p:spPr>
        </p:sp>
        <p:sp>
          <p:nvSpPr>
            <p:cNvPr name="TextBox 10" id="10"/>
            <p:cNvSpPr txBox="true"/>
            <p:nvPr/>
          </p:nvSpPr>
          <p:spPr>
            <a:xfrm>
              <a:off x="0" y="0"/>
              <a:ext cx="15239390" cy="1539137"/>
            </a:xfrm>
            <a:prstGeom prst="rect">
              <a:avLst/>
            </a:prstGeom>
          </p:spPr>
          <p:txBody>
            <a:bodyPr anchor="ctr" rtlCol="false" tIns="0" lIns="0" bIns="0" rIns="0"/>
            <a:lstStyle/>
            <a:p>
              <a:pPr algn="ctr">
                <a:lnSpc>
                  <a:spcPts val="1889"/>
                </a:lnSpc>
              </a:pPr>
              <a:r>
                <a:rPr lang="en-US" sz="1575" spc="150">
                  <a:solidFill>
                    <a:srgbClr val="D3E6DD"/>
                  </a:solidFill>
                  <a:latin typeface="Cambria"/>
                  <a:ea typeface="Cambria"/>
                  <a:cs typeface="Cambria"/>
                  <a:sym typeface="Cambria"/>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WHO IS AFFECTED?</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590115"/>
            <a:chOff x="0" y="0"/>
            <a:chExt cx="3255264" cy="2120153"/>
          </a:xfrm>
        </p:grpSpPr>
        <p:sp>
          <p:nvSpPr>
            <p:cNvPr name="Freeform 29" id="29"/>
            <p:cNvSpPr/>
            <p:nvPr/>
          </p:nvSpPr>
          <p:spPr>
            <a:xfrm flipH="false" flipV="false" rot="0">
              <a:off x="0" y="0"/>
              <a:ext cx="3255264" cy="2120153"/>
            </a:xfrm>
            <a:custGeom>
              <a:avLst/>
              <a:gdLst/>
              <a:ahLst/>
              <a:cxnLst/>
              <a:rect r="r" b="b" t="t" l="l"/>
              <a:pathLst>
                <a:path h="2120153" w="3255264">
                  <a:moveTo>
                    <a:pt x="0" y="0"/>
                  </a:moveTo>
                  <a:lnTo>
                    <a:pt x="3255264" y="0"/>
                  </a:lnTo>
                  <a:lnTo>
                    <a:pt x="3255264" y="2120153"/>
                  </a:lnTo>
                  <a:lnTo>
                    <a:pt x="0" y="2120153"/>
                  </a:lnTo>
                  <a:close/>
                </a:path>
              </a:pathLst>
            </a:custGeom>
            <a:blipFill>
              <a:blip r:embed="rId4">
                <a:alphaModFix amt="0"/>
              </a:blip>
              <a:stretch>
                <a:fillRect l="-4781" t="0" r="-4781" b="34443"/>
              </a:stretch>
            </a:blipFill>
          </p:spPr>
        </p:sp>
        <p:sp>
          <p:nvSpPr>
            <p:cNvPr name="TextBox 30" id="30"/>
            <p:cNvSpPr txBox="true"/>
            <p:nvPr/>
          </p:nvSpPr>
          <p:spPr>
            <a:xfrm>
              <a:off x="0" y="-19050"/>
              <a:ext cx="3255264" cy="2139203"/>
            </a:xfrm>
            <a:prstGeom prst="rect">
              <a:avLst/>
            </a:prstGeom>
          </p:spPr>
          <p:txBody>
            <a:bodyPr anchor="ctr" rtlCol="false" tIns="0" lIns="0" bIns="0" rIns="0"/>
            <a:lstStyle/>
            <a:p>
              <a:pPr algn="l">
                <a:lnSpc>
                  <a:spcPts val="1620"/>
                </a:lnSpc>
              </a:pPr>
              <a:r>
                <a:rPr lang="en-US" b="true" sz="1350" spc="449">
                  <a:solidFill>
                    <a:srgbClr val="5B6F6B"/>
                  </a:solidFill>
                  <a:latin typeface="Cambria Bold"/>
                  <a:ea typeface="Cambria Bold"/>
                  <a:cs typeface="Cambria Bold"/>
                  <a:sym typeface="Cambria Bold"/>
                </a:rPr>
                <a:t>TEAM</a:t>
              </a:r>
            </a:p>
            <a:p>
              <a:pPr algn="l">
                <a:lnSpc>
                  <a:spcPts val="2700"/>
                </a:lnSpc>
              </a:pPr>
              <a:r>
                <a:rPr lang="en-US" b="true" sz="2250" spc="749">
                  <a:solidFill>
                    <a:srgbClr val="026855"/>
                  </a:solidFill>
                  <a:latin typeface="Cambria Bold"/>
                  <a:ea typeface="Cambria Bold"/>
                  <a:cs typeface="Cambria Bold"/>
                  <a:sym typeface="Cambria Bold"/>
                </a:rPr>
                <a:t>INNOVITA</a:t>
              </a:r>
            </a:p>
          </p:txBody>
        </p:sp>
      </p:grpSp>
      <p:grpSp>
        <p:nvGrpSpPr>
          <p:cNvPr name="Group 31" id="31"/>
          <p:cNvGrpSpPr/>
          <p:nvPr/>
        </p:nvGrpSpPr>
        <p:grpSpPr>
          <a:xfrm rot="0">
            <a:off x="822960" y="2194560"/>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714500" y="1500691"/>
            <a:ext cx="14401800" cy="1980269"/>
            <a:chOff x="0" y="0"/>
            <a:chExt cx="19202400" cy="2640359"/>
          </a:xfrm>
        </p:grpSpPr>
        <p:sp>
          <p:nvSpPr>
            <p:cNvPr name="Freeform 36" id="36"/>
            <p:cNvSpPr/>
            <p:nvPr/>
          </p:nvSpPr>
          <p:spPr>
            <a:xfrm flipH="false" flipV="false" rot="0">
              <a:off x="0" y="0"/>
              <a:ext cx="19202400" cy="2640359"/>
            </a:xfrm>
            <a:custGeom>
              <a:avLst/>
              <a:gdLst/>
              <a:ahLst/>
              <a:cxnLst/>
              <a:rect r="r" b="b" t="t" l="l"/>
              <a:pathLst>
                <a:path h="2640359" w="19202400">
                  <a:moveTo>
                    <a:pt x="0" y="0"/>
                  </a:moveTo>
                  <a:lnTo>
                    <a:pt x="19202400" y="0"/>
                  </a:lnTo>
                  <a:lnTo>
                    <a:pt x="19202400" y="2640359"/>
                  </a:lnTo>
                  <a:lnTo>
                    <a:pt x="0" y="2640359"/>
                  </a:lnTo>
                  <a:close/>
                </a:path>
              </a:pathLst>
            </a:custGeom>
            <a:blipFill>
              <a:blip r:embed="rId4">
                <a:alphaModFix amt="0"/>
              </a:blip>
              <a:stretch>
                <a:fillRect l="0" t="-122660" r="0" b="-60755"/>
              </a:stretch>
            </a:blipFill>
          </p:spPr>
        </p:sp>
        <p:sp>
          <p:nvSpPr>
            <p:cNvPr name="TextBox 37" id="37"/>
            <p:cNvSpPr txBox="true"/>
            <p:nvPr/>
          </p:nvSpPr>
          <p:spPr>
            <a:xfrm>
              <a:off x="0" y="-19050"/>
              <a:ext cx="19202400" cy="2659409"/>
            </a:xfrm>
            <a:prstGeom prst="rect">
              <a:avLst/>
            </a:prstGeom>
          </p:spPr>
          <p:txBody>
            <a:bodyPr anchor="ctr" rtlCol="false" tIns="0" lIns="0" bIns="0" rIns="0"/>
            <a:lstStyle/>
            <a:p>
              <a:pPr algn="l">
                <a:lnSpc>
                  <a:spcPts val="3240"/>
                </a:lnSpc>
              </a:pPr>
              <a:r>
                <a:rPr lang="en-US" sz="2700" b="true">
                  <a:solidFill>
                    <a:srgbClr val="094542"/>
                  </a:solidFill>
                  <a:latin typeface="Cambria Bold"/>
                  <a:ea typeface="Cambria Bold"/>
                  <a:cs typeface="Cambria Bold"/>
                  <a:sym typeface="Cambria Bold"/>
                </a:rPr>
                <a:t>Target users, stakeholders, beneficiaries</a:t>
              </a:r>
            </a:p>
          </p:txBody>
        </p:sp>
      </p:grpSp>
      <p:sp>
        <p:nvSpPr>
          <p:cNvPr name="TextBox 38" id="38"/>
          <p:cNvSpPr txBox="true"/>
          <p:nvPr/>
        </p:nvSpPr>
        <p:spPr>
          <a:xfrm rot="0">
            <a:off x="1371600" y="3049904"/>
            <a:ext cx="15567660" cy="4934166"/>
          </a:xfrm>
          <a:prstGeom prst="rect">
            <a:avLst/>
          </a:prstGeom>
        </p:spPr>
        <p:txBody>
          <a:bodyPr anchor="t" rtlCol="false" tIns="0" lIns="0" bIns="0" rIns="0">
            <a:spAutoFit/>
          </a:bodyPr>
          <a:lstStyle/>
          <a:p>
            <a:pPr algn="l" marL="486489" indent="-243245" lvl="1">
              <a:lnSpc>
                <a:spcPts val="3225"/>
              </a:lnSpc>
              <a:buFont typeface="Arial"/>
              <a:buChar char="•"/>
            </a:pPr>
            <a:r>
              <a:rPr lang="en-US" sz="2688">
                <a:solidFill>
                  <a:srgbClr val="026855"/>
                </a:solidFill>
                <a:latin typeface="Cambria"/>
                <a:ea typeface="Cambria"/>
                <a:cs typeface="Cambria"/>
                <a:sym typeface="Cambria"/>
              </a:rPr>
              <a:t>Primary users / target group:</a:t>
            </a:r>
          </a:p>
          <a:p>
            <a:pPr algn="l" marL="486489" indent="-243245" lvl="1">
              <a:lnSpc>
                <a:spcPts val="3225"/>
              </a:lnSpc>
            </a:pPr>
            <a:r>
              <a:rPr lang="en-US" sz="2688">
                <a:solidFill>
                  <a:srgbClr val="026855"/>
                </a:solidFill>
                <a:latin typeface="Cambria"/>
                <a:ea typeface="Cambria"/>
                <a:cs typeface="Cambria"/>
                <a:sym typeface="Cambria"/>
              </a:rPr>
              <a:t>Students studying in colleges and schools, best governed at institutional levels. </a:t>
            </a:r>
          </a:p>
          <a:p>
            <a:pPr algn="l" marL="486489" indent="-243245" lvl="1">
              <a:lnSpc>
                <a:spcPts val="3225"/>
              </a:lnSpc>
              <a:buFont typeface="Arial"/>
              <a:buChar char="•"/>
            </a:pPr>
            <a:r>
              <a:rPr lang="en-US" sz="2688">
                <a:solidFill>
                  <a:srgbClr val="026855"/>
                </a:solidFill>
                <a:latin typeface="Cambria"/>
                <a:ea typeface="Cambria"/>
                <a:cs typeface="Cambria"/>
                <a:sym typeface="Cambria"/>
              </a:rPr>
              <a:t>Secondary stakeholders</a:t>
            </a:r>
          </a:p>
          <a:p>
            <a:pPr algn="l" marL="486489" indent="-243245" lvl="1">
              <a:lnSpc>
                <a:spcPts val="3225"/>
              </a:lnSpc>
              <a:buAutoNum type="arabicPeriod" startAt="1"/>
            </a:pPr>
            <a:r>
              <a:rPr lang="en-US" sz="2688">
                <a:solidFill>
                  <a:srgbClr val="026855"/>
                </a:solidFill>
                <a:latin typeface="Cambria"/>
                <a:ea typeface="Cambria"/>
                <a:cs typeface="Cambria"/>
                <a:sym typeface="Cambria"/>
              </a:rPr>
              <a:t>Teachers and faculty members</a:t>
            </a:r>
          </a:p>
          <a:p>
            <a:pPr algn="l" marL="486489" indent="-243245" lvl="1">
              <a:lnSpc>
                <a:spcPts val="3225"/>
              </a:lnSpc>
              <a:buAutoNum type="arabicPeriod" startAt="1"/>
            </a:pPr>
            <a:r>
              <a:rPr lang="en-US" sz="2688">
                <a:solidFill>
                  <a:srgbClr val="026855"/>
                </a:solidFill>
                <a:latin typeface="Cambria"/>
                <a:ea typeface="Cambria"/>
                <a:cs typeface="Cambria"/>
                <a:sym typeface="Cambria"/>
              </a:rPr>
              <a:t>Schools, colleges, and educational institutions</a:t>
            </a:r>
          </a:p>
          <a:p>
            <a:pPr algn="l" marL="486489" indent="-243245" lvl="1">
              <a:lnSpc>
                <a:spcPts val="3225"/>
              </a:lnSpc>
              <a:buAutoNum type="arabicPeriod" startAt="1"/>
            </a:pPr>
            <a:r>
              <a:rPr lang="en-US" sz="2688">
                <a:solidFill>
                  <a:srgbClr val="026855"/>
                </a:solidFill>
                <a:latin typeface="Cambria"/>
                <a:ea typeface="Cambria"/>
                <a:cs typeface="Cambria"/>
                <a:sym typeface="Cambria"/>
              </a:rPr>
              <a:t>AI technology and cloud service providers</a:t>
            </a:r>
          </a:p>
          <a:p>
            <a:pPr algn="l" marL="486489" indent="-243245" lvl="1">
              <a:lnSpc>
                <a:spcPts val="3225"/>
              </a:lnSpc>
              <a:buAutoNum type="arabicPeriod" startAt="1"/>
            </a:pPr>
            <a:r>
              <a:rPr lang="en-US" sz="2688">
                <a:solidFill>
                  <a:srgbClr val="026855"/>
                </a:solidFill>
                <a:latin typeface="Cambria"/>
                <a:ea typeface="Cambria"/>
                <a:cs typeface="Cambria"/>
                <a:sym typeface="Cambria"/>
              </a:rPr>
              <a:t>Data privacy and cybersecurity professionals</a:t>
            </a:r>
          </a:p>
          <a:p>
            <a:pPr algn="l" marL="486489" indent="-243245" lvl="1">
              <a:lnSpc>
                <a:spcPts val="3225"/>
              </a:lnSpc>
              <a:buAutoNum type="arabicPeriod" startAt="1"/>
            </a:pPr>
            <a:r>
              <a:rPr lang="en-US" sz="2688">
                <a:solidFill>
                  <a:srgbClr val="026855"/>
                </a:solidFill>
                <a:latin typeface="Cambria"/>
                <a:ea typeface="Cambria"/>
                <a:cs typeface="Cambria"/>
                <a:sym typeface="Cambria"/>
              </a:rPr>
              <a:t>Investors, sponsors, and EdTech partners</a:t>
            </a:r>
          </a:p>
          <a:p>
            <a:pPr algn="l" marL="486489" indent="-243245" lvl="1">
              <a:lnSpc>
                <a:spcPts val="3225"/>
              </a:lnSpc>
            </a:pPr>
          </a:p>
          <a:p>
            <a:pPr algn="l" marL="486489" indent="-243245" lvl="1">
              <a:lnSpc>
                <a:spcPts val="3225"/>
              </a:lnSpc>
              <a:buFont typeface="Arial"/>
              <a:buChar char="•"/>
            </a:pPr>
            <a:r>
              <a:rPr lang="en-US" sz="2688">
                <a:solidFill>
                  <a:srgbClr val="026855"/>
                </a:solidFill>
                <a:latin typeface="Cambria"/>
                <a:ea typeface="Cambria"/>
                <a:cs typeface="Cambria"/>
                <a:sym typeface="Cambria"/>
              </a:rPr>
              <a:t>Who benefits if the problem is solved?</a:t>
            </a:r>
          </a:p>
          <a:p>
            <a:pPr algn="l" marL="486489" indent="-243245" lvl="1">
              <a:lnSpc>
                <a:spcPts val="3225"/>
              </a:lnSpc>
              <a:buFont typeface="Arial"/>
              <a:buChar char="•"/>
            </a:pPr>
            <a:r>
              <a:rPr lang="en-US" sz="2688">
                <a:solidFill>
                  <a:srgbClr val="026855"/>
                </a:solidFill>
                <a:latin typeface="Cambria"/>
                <a:ea typeface="Cambria"/>
                <a:cs typeface="Cambria"/>
                <a:sym typeface="Cambria"/>
              </a:rPr>
              <a:t>School and college students who lack motivation , students with busy schedule , students who struggle with revision , educational institutions and teachers.</a:t>
            </a:r>
          </a:p>
        </p:txBody>
      </p:sp>
      <p:grpSp>
        <p:nvGrpSpPr>
          <p:cNvPr name="Group 39" id="39"/>
          <p:cNvGrpSpPr/>
          <p:nvPr/>
        </p:nvGrpSpPr>
        <p:grpSpPr>
          <a:xfrm rot="0">
            <a:off x="16888511" y="9614916"/>
            <a:ext cx="685800" cy="1207544"/>
            <a:chOff x="0" y="0"/>
            <a:chExt cx="914400" cy="1610058"/>
          </a:xfrm>
        </p:grpSpPr>
        <p:sp>
          <p:nvSpPr>
            <p:cNvPr name="Freeform 40" id="40"/>
            <p:cNvSpPr/>
            <p:nvPr/>
          </p:nvSpPr>
          <p:spPr>
            <a:xfrm flipH="false" flipV="false" rot="0">
              <a:off x="0" y="0"/>
              <a:ext cx="914400" cy="1610058"/>
            </a:xfrm>
            <a:custGeom>
              <a:avLst/>
              <a:gdLst/>
              <a:ahLst/>
              <a:cxnLst/>
              <a:rect r="r" b="b" t="t" l="l"/>
              <a:pathLst>
                <a:path h="1610058" w="914400">
                  <a:moveTo>
                    <a:pt x="0" y="0"/>
                  </a:moveTo>
                  <a:lnTo>
                    <a:pt x="914400" y="0"/>
                  </a:lnTo>
                  <a:lnTo>
                    <a:pt x="914400" y="1610058"/>
                  </a:lnTo>
                  <a:lnTo>
                    <a:pt x="0" y="1610058"/>
                  </a:lnTo>
                  <a:close/>
                </a:path>
              </a:pathLst>
            </a:custGeom>
            <a:blipFill>
              <a:blip r:embed="rId4">
                <a:alphaModFix amt="0"/>
              </a:blip>
              <a:stretch>
                <a:fillRect l="-61110" t="0" r="-61110" b="50817"/>
              </a:stretch>
            </a:blipFill>
          </p:spPr>
        </p:sp>
        <p:sp>
          <p:nvSpPr>
            <p:cNvPr name="TextBox 41" id="41"/>
            <p:cNvSpPr txBox="true"/>
            <p:nvPr/>
          </p:nvSpPr>
          <p:spPr>
            <a:xfrm>
              <a:off x="0" y="0"/>
              <a:ext cx="914400" cy="1610058"/>
            </a:xfrm>
            <a:prstGeom prst="rect">
              <a:avLst/>
            </a:prstGeom>
          </p:spPr>
          <p:txBody>
            <a:bodyPr anchor="ctr" rtlCol="false" tIns="0" lIns="0" bIns="0" rIns="0"/>
            <a:lstStyle/>
            <a:p>
              <a:pPr algn="ctr">
                <a:lnSpc>
                  <a:spcPts val="1980"/>
                </a:lnSpc>
              </a:pPr>
              <a:r>
                <a:rPr lang="en-US" sz="1650" b="true">
                  <a:solidFill>
                    <a:srgbClr val="052B35"/>
                  </a:solidFill>
                  <a:latin typeface="Cambria Bold"/>
                  <a:ea typeface="Cambria Bold"/>
                  <a:cs typeface="Cambria Bold"/>
                  <a:sym typeface="Cambria Bold"/>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1154353"/>
            <a:chOff x="0" y="0"/>
            <a:chExt cx="15239390" cy="1539137"/>
          </a:xfrm>
        </p:grpSpPr>
        <p:sp>
          <p:nvSpPr>
            <p:cNvPr name="Freeform 9" id="9"/>
            <p:cNvSpPr/>
            <p:nvPr/>
          </p:nvSpPr>
          <p:spPr>
            <a:xfrm flipH="false" flipV="false" rot="0">
              <a:off x="0" y="0"/>
              <a:ext cx="15239391" cy="1539137"/>
            </a:xfrm>
            <a:custGeom>
              <a:avLst/>
              <a:gdLst/>
              <a:ahLst/>
              <a:cxnLst/>
              <a:rect r="r" b="b" t="t" l="l"/>
              <a:pathLst>
                <a:path h="1539137" w="15239391">
                  <a:moveTo>
                    <a:pt x="0" y="0"/>
                  </a:moveTo>
                  <a:lnTo>
                    <a:pt x="15239391" y="0"/>
                  </a:lnTo>
                  <a:lnTo>
                    <a:pt x="15239391" y="1539137"/>
                  </a:lnTo>
                  <a:lnTo>
                    <a:pt x="0" y="1539137"/>
                  </a:lnTo>
                  <a:close/>
                </a:path>
              </a:pathLst>
            </a:custGeom>
            <a:blipFill>
              <a:blip r:embed="rId4">
                <a:alphaModFix amt="0"/>
              </a:blip>
              <a:stretch>
                <a:fillRect l="0" t="-160250" r="0" b="-125601"/>
              </a:stretch>
            </a:blipFill>
          </p:spPr>
        </p:sp>
        <p:sp>
          <p:nvSpPr>
            <p:cNvPr name="TextBox 10" id="10"/>
            <p:cNvSpPr txBox="true"/>
            <p:nvPr/>
          </p:nvSpPr>
          <p:spPr>
            <a:xfrm>
              <a:off x="0" y="0"/>
              <a:ext cx="15239390" cy="1539137"/>
            </a:xfrm>
            <a:prstGeom prst="rect">
              <a:avLst/>
            </a:prstGeom>
          </p:spPr>
          <p:txBody>
            <a:bodyPr anchor="ctr" rtlCol="false" tIns="0" lIns="0" bIns="0" rIns="0"/>
            <a:lstStyle/>
            <a:p>
              <a:pPr algn="ctr">
                <a:lnSpc>
                  <a:spcPts val="1889"/>
                </a:lnSpc>
              </a:pPr>
              <a:r>
                <a:rPr lang="en-US" sz="1575" spc="150">
                  <a:solidFill>
                    <a:srgbClr val="D3E6DD"/>
                  </a:solidFill>
                  <a:latin typeface="Cambria"/>
                  <a:ea typeface="Cambria"/>
                  <a:cs typeface="Cambria"/>
                  <a:sym typeface="Cambria"/>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CURRENT SITUATION &amp; CONTEXT</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590115"/>
            <a:chOff x="0" y="0"/>
            <a:chExt cx="3255264" cy="2120153"/>
          </a:xfrm>
        </p:grpSpPr>
        <p:sp>
          <p:nvSpPr>
            <p:cNvPr name="Freeform 29" id="29"/>
            <p:cNvSpPr/>
            <p:nvPr/>
          </p:nvSpPr>
          <p:spPr>
            <a:xfrm flipH="false" flipV="false" rot="0">
              <a:off x="0" y="0"/>
              <a:ext cx="3255264" cy="2120153"/>
            </a:xfrm>
            <a:custGeom>
              <a:avLst/>
              <a:gdLst/>
              <a:ahLst/>
              <a:cxnLst/>
              <a:rect r="r" b="b" t="t" l="l"/>
              <a:pathLst>
                <a:path h="2120153" w="3255264">
                  <a:moveTo>
                    <a:pt x="0" y="0"/>
                  </a:moveTo>
                  <a:lnTo>
                    <a:pt x="3255264" y="0"/>
                  </a:lnTo>
                  <a:lnTo>
                    <a:pt x="3255264" y="2120153"/>
                  </a:lnTo>
                  <a:lnTo>
                    <a:pt x="0" y="2120153"/>
                  </a:lnTo>
                  <a:close/>
                </a:path>
              </a:pathLst>
            </a:custGeom>
            <a:blipFill>
              <a:blip r:embed="rId4">
                <a:alphaModFix amt="0"/>
              </a:blip>
              <a:stretch>
                <a:fillRect l="-4781" t="0" r="-4781" b="34443"/>
              </a:stretch>
            </a:blipFill>
          </p:spPr>
        </p:sp>
        <p:sp>
          <p:nvSpPr>
            <p:cNvPr name="TextBox 30" id="30"/>
            <p:cNvSpPr txBox="true"/>
            <p:nvPr/>
          </p:nvSpPr>
          <p:spPr>
            <a:xfrm>
              <a:off x="0" y="-19050"/>
              <a:ext cx="3255264" cy="2139203"/>
            </a:xfrm>
            <a:prstGeom prst="rect">
              <a:avLst/>
            </a:prstGeom>
          </p:spPr>
          <p:txBody>
            <a:bodyPr anchor="ctr" rtlCol="false" tIns="0" lIns="0" bIns="0" rIns="0"/>
            <a:lstStyle/>
            <a:p>
              <a:pPr algn="l">
                <a:lnSpc>
                  <a:spcPts val="1620"/>
                </a:lnSpc>
              </a:pPr>
              <a:r>
                <a:rPr lang="en-US" b="true" sz="1350" spc="449">
                  <a:solidFill>
                    <a:srgbClr val="5B6F6B"/>
                  </a:solidFill>
                  <a:latin typeface="Cambria Bold"/>
                  <a:ea typeface="Cambria Bold"/>
                  <a:cs typeface="Cambria Bold"/>
                  <a:sym typeface="Cambria Bold"/>
                </a:rPr>
                <a:t>TEAM</a:t>
              </a:r>
            </a:p>
            <a:p>
              <a:pPr algn="l">
                <a:lnSpc>
                  <a:spcPts val="2700"/>
                </a:lnSpc>
              </a:pPr>
              <a:r>
                <a:rPr lang="en-US" b="true" sz="2250" spc="749">
                  <a:solidFill>
                    <a:srgbClr val="026855"/>
                  </a:solidFill>
                  <a:latin typeface="Cambria Bold"/>
                  <a:ea typeface="Cambria Bold"/>
                  <a:cs typeface="Cambria Bold"/>
                  <a:sym typeface="Cambria Bold"/>
                </a:rPr>
                <a:t>INNOVITA</a:t>
              </a:r>
            </a:p>
          </p:txBody>
        </p:sp>
      </p:grpSp>
      <p:grpSp>
        <p:nvGrpSpPr>
          <p:cNvPr name="Group 31" id="31"/>
          <p:cNvGrpSpPr/>
          <p:nvPr/>
        </p:nvGrpSpPr>
        <p:grpSpPr>
          <a:xfrm rot="0">
            <a:off x="822960" y="2194560"/>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644987" y="1500691"/>
            <a:ext cx="14401800" cy="1980269"/>
            <a:chOff x="0" y="0"/>
            <a:chExt cx="19202400" cy="2640359"/>
          </a:xfrm>
        </p:grpSpPr>
        <p:sp>
          <p:nvSpPr>
            <p:cNvPr name="Freeform 36" id="36"/>
            <p:cNvSpPr/>
            <p:nvPr/>
          </p:nvSpPr>
          <p:spPr>
            <a:xfrm flipH="false" flipV="false" rot="0">
              <a:off x="0" y="0"/>
              <a:ext cx="19202400" cy="2640359"/>
            </a:xfrm>
            <a:custGeom>
              <a:avLst/>
              <a:gdLst/>
              <a:ahLst/>
              <a:cxnLst/>
              <a:rect r="r" b="b" t="t" l="l"/>
              <a:pathLst>
                <a:path h="2640359" w="19202400">
                  <a:moveTo>
                    <a:pt x="0" y="0"/>
                  </a:moveTo>
                  <a:lnTo>
                    <a:pt x="19202400" y="0"/>
                  </a:lnTo>
                  <a:lnTo>
                    <a:pt x="19202400" y="2640359"/>
                  </a:lnTo>
                  <a:lnTo>
                    <a:pt x="0" y="2640359"/>
                  </a:lnTo>
                  <a:close/>
                </a:path>
              </a:pathLst>
            </a:custGeom>
            <a:blipFill>
              <a:blip r:embed="rId4">
                <a:alphaModFix amt="0"/>
              </a:blip>
              <a:stretch>
                <a:fillRect l="0" t="-122660" r="0" b="-60755"/>
              </a:stretch>
            </a:blipFill>
          </p:spPr>
        </p:sp>
        <p:sp>
          <p:nvSpPr>
            <p:cNvPr name="TextBox 37" id="37"/>
            <p:cNvSpPr txBox="true"/>
            <p:nvPr/>
          </p:nvSpPr>
          <p:spPr>
            <a:xfrm>
              <a:off x="0" y="-19050"/>
              <a:ext cx="19202400" cy="2659409"/>
            </a:xfrm>
            <a:prstGeom prst="rect">
              <a:avLst/>
            </a:prstGeom>
          </p:spPr>
          <p:txBody>
            <a:bodyPr anchor="ctr" rtlCol="false" tIns="0" lIns="0" bIns="0" rIns="0"/>
            <a:lstStyle/>
            <a:p>
              <a:pPr algn="l">
                <a:lnSpc>
                  <a:spcPts val="3240"/>
                </a:lnSpc>
              </a:pPr>
              <a:r>
                <a:rPr lang="en-US" sz="2700" b="true">
                  <a:solidFill>
                    <a:srgbClr val="094542"/>
                  </a:solidFill>
                  <a:latin typeface="Cambria Bold"/>
                  <a:ea typeface="Cambria Bold"/>
                  <a:cs typeface="Cambria Bold"/>
                  <a:sym typeface="Cambria Bold"/>
                </a:rPr>
                <a:t>Existing scenario, background and how things work today</a:t>
              </a:r>
            </a:p>
          </p:txBody>
        </p:sp>
      </p:grpSp>
      <p:sp>
        <p:nvSpPr>
          <p:cNvPr name="TextBox 38" id="38"/>
          <p:cNvSpPr txBox="true"/>
          <p:nvPr/>
        </p:nvSpPr>
        <p:spPr>
          <a:xfrm rot="0">
            <a:off x="1508760" y="2802622"/>
            <a:ext cx="15430500" cy="6877410"/>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26855"/>
                </a:solidFill>
                <a:latin typeface="Cambria"/>
                <a:ea typeface="Cambria"/>
                <a:cs typeface="Cambria"/>
                <a:sym typeface="Cambria"/>
              </a:rPr>
              <a:t>Existing scenario and background</a:t>
            </a:r>
          </a:p>
          <a:p>
            <a:pPr algn="l" marL="380048" indent="-190024" lvl="1">
              <a:lnSpc>
                <a:spcPts val="2520"/>
              </a:lnSpc>
            </a:pPr>
            <a:r>
              <a:rPr lang="en-US" sz="2100">
                <a:solidFill>
                  <a:srgbClr val="026855"/>
                </a:solidFill>
                <a:latin typeface="Cambria"/>
                <a:ea typeface="Cambria"/>
                <a:cs typeface="Cambria"/>
                <a:sym typeface="Cambria"/>
              </a:rPr>
              <a:t>Students use multiple apps to manage classes, assignments, notes, and exams, making organization and time management difficult. This often leads to missed deadlines, inconsistent study habits, and last-minute revision. Although AI study tools exist, they are rarely integrated with students' schedules and progress. Our solution aims to combine academic planning, task management, progress tracking, and AI-powered revision in one platform.</a:t>
            </a:r>
          </a:p>
          <a:p>
            <a:pPr algn="l" marL="488632" indent="-244316" lvl="1">
              <a:lnSpc>
                <a:spcPts val="3240"/>
              </a:lnSpc>
              <a:buFont typeface="Arial"/>
              <a:buChar char="•"/>
            </a:pPr>
            <a:r>
              <a:rPr lang="en-US" sz="2700">
                <a:solidFill>
                  <a:srgbClr val="026855"/>
                </a:solidFill>
                <a:latin typeface="Cambria"/>
                <a:ea typeface="Cambria"/>
                <a:cs typeface="Cambria"/>
                <a:sym typeface="Cambria"/>
              </a:rPr>
              <a:t>Relevant data or facts (if available)</a:t>
            </a:r>
          </a:p>
          <a:p>
            <a:pPr algn="l" marL="380048" indent="-190024" lvl="1">
              <a:lnSpc>
                <a:spcPts val="2520"/>
              </a:lnSpc>
              <a:buAutoNum type="arabicPeriod" startAt="1"/>
            </a:pPr>
            <a:r>
              <a:rPr lang="en-US" b="true" sz="2100">
                <a:solidFill>
                  <a:srgbClr val="026855"/>
                </a:solidFill>
                <a:latin typeface="Cambria Bold"/>
                <a:ea typeface="Cambria Bold"/>
                <a:cs typeface="Cambria Bold"/>
                <a:sym typeface="Cambria Bold"/>
              </a:rPr>
              <a:t>Diminished Well-being:</a:t>
            </a:r>
            <a:r>
              <a:rPr lang="en-US" sz="2100">
                <a:solidFill>
                  <a:srgbClr val="026855"/>
                </a:solidFill>
                <a:latin typeface="Cambria"/>
                <a:ea typeface="Cambria"/>
                <a:cs typeface="Cambria"/>
                <a:sym typeface="Cambria"/>
              </a:rPr>
              <a:t> A study published in </a:t>
            </a:r>
            <a:r>
              <a:rPr lang="en-US" sz="2100" i="true">
                <a:solidFill>
                  <a:srgbClr val="026855"/>
                </a:solidFill>
                <a:latin typeface="Cambria Italics"/>
                <a:ea typeface="Cambria Italics"/>
                <a:cs typeface="Cambria Italics"/>
                <a:sym typeface="Cambria Italics"/>
              </a:rPr>
              <a:t>PMC</a:t>
            </a:r>
            <a:r>
              <a:rPr lang="en-US" sz="2100">
                <a:solidFill>
                  <a:srgbClr val="026855"/>
                </a:solidFill>
                <a:latin typeface="Cambria"/>
                <a:ea typeface="Cambria"/>
                <a:cs typeface="Cambria"/>
                <a:sym typeface="Cambria"/>
              </a:rPr>
              <a:t> found that utilizing multiple educational platforms directly correlates with an increased </a:t>
            </a:r>
            <a:r>
              <a:rPr lang="en-US" b="true" sz="2100">
                <a:solidFill>
                  <a:srgbClr val="026855"/>
                </a:solidFill>
                <a:latin typeface="Cambria Bold"/>
                <a:ea typeface="Cambria Bold"/>
                <a:cs typeface="Cambria Bold"/>
                <a:sym typeface="Cambria Bold"/>
              </a:rPr>
              <a:t>digital cognitive load</a:t>
            </a:r>
            <a:r>
              <a:rPr lang="en-US" sz="2100">
                <a:solidFill>
                  <a:srgbClr val="026855"/>
                </a:solidFill>
                <a:latin typeface="Cambria"/>
                <a:ea typeface="Cambria"/>
                <a:cs typeface="Cambria"/>
                <a:sym typeface="Cambria"/>
              </a:rPr>
              <a:t>, which heavily mediates a drop in student well-being and academic satisfaction. </a:t>
            </a:r>
          </a:p>
          <a:p>
            <a:pPr algn="l" marL="380048" indent="-190024" lvl="1">
              <a:lnSpc>
                <a:spcPts val="2520"/>
              </a:lnSpc>
              <a:buAutoNum type="arabicPeriod" startAt="1"/>
            </a:pPr>
            <a:r>
              <a:rPr lang="en-US" b="true" sz="2100">
                <a:solidFill>
                  <a:srgbClr val="026855"/>
                </a:solidFill>
                <a:latin typeface="Cambria Bold"/>
                <a:ea typeface="Cambria Bold"/>
                <a:cs typeface="Cambria Bold"/>
                <a:sym typeface="Cambria Bold"/>
              </a:rPr>
              <a:t>Energy Drain:</a:t>
            </a:r>
            <a:r>
              <a:rPr lang="en-US" sz="2100">
                <a:solidFill>
                  <a:srgbClr val="026855"/>
                </a:solidFill>
                <a:latin typeface="Cambria"/>
                <a:ea typeface="Cambria"/>
                <a:cs typeface="Cambria"/>
                <a:sym typeface="Cambria"/>
              </a:rPr>
              <a:t> According to </a:t>
            </a:r>
            <a:r>
              <a:rPr lang="en-US" b="true" sz="2100">
                <a:solidFill>
                  <a:srgbClr val="026855"/>
                </a:solidFill>
                <a:latin typeface="Cambria Bold"/>
                <a:ea typeface="Cambria Bold"/>
                <a:cs typeface="Cambria Bold"/>
                <a:sym typeface="Cambria Bold"/>
              </a:rPr>
              <a:t>Cognitive Load Theory</a:t>
            </a:r>
            <a:r>
              <a:rPr lang="en-US" sz="2100">
                <a:solidFill>
                  <a:srgbClr val="026855"/>
                </a:solidFill>
                <a:latin typeface="Cambria"/>
                <a:ea typeface="Cambria"/>
                <a:cs typeface="Cambria"/>
                <a:sym typeface="Cambria"/>
              </a:rPr>
              <a:t>, the finite processing capacity of the human working memory acts as a bottleneck. A fragmented environment creates a </a:t>
            </a:r>
            <a:r>
              <a:rPr lang="en-US" b="true" sz="2100">
                <a:solidFill>
                  <a:srgbClr val="026855"/>
                </a:solidFill>
                <a:latin typeface="Cambria Bold"/>
                <a:ea typeface="Cambria Bold"/>
                <a:cs typeface="Cambria Bold"/>
                <a:sym typeface="Cambria Bold"/>
              </a:rPr>
              <a:t>"split-attention effect,"</a:t>
            </a:r>
            <a:r>
              <a:rPr lang="en-US" sz="2100">
                <a:solidFill>
                  <a:srgbClr val="026855"/>
                </a:solidFill>
                <a:latin typeface="Cambria"/>
                <a:ea typeface="Cambria"/>
                <a:cs typeface="Cambria"/>
                <a:sym typeface="Cambria"/>
              </a:rPr>
              <a:t> meaning the mental power spent remembering passwords, tracking down URLs, and switching tabs is completely stolen from the brain's ability to transfer information into long-term memory. </a:t>
            </a:r>
          </a:p>
          <a:p>
            <a:pPr algn="l" marL="380048" indent="-190024" lvl="1">
              <a:lnSpc>
                <a:spcPts val="2520"/>
              </a:lnSpc>
              <a:buAutoNum type="arabicPeriod" startAt="1"/>
            </a:pPr>
            <a:r>
              <a:rPr lang="en-US" b="true" sz="2100">
                <a:solidFill>
                  <a:srgbClr val="026855"/>
                </a:solidFill>
                <a:latin typeface="Cambria Bold"/>
                <a:ea typeface="Cambria Bold"/>
                <a:cs typeface="Cambria Bold"/>
                <a:sym typeface="Cambria Bold"/>
              </a:rPr>
              <a:t>The 70% Burnout Stat:</a:t>
            </a:r>
            <a:r>
              <a:rPr lang="en-US" sz="2100">
                <a:solidFill>
                  <a:srgbClr val="026855"/>
                </a:solidFill>
                <a:latin typeface="Cambria"/>
                <a:ea typeface="Cambria"/>
                <a:cs typeface="Cambria"/>
                <a:sym typeface="Cambria"/>
              </a:rPr>
              <a:t>Data cited by the Ministry of Education (2024) indicated that </a:t>
            </a:r>
            <a:r>
              <a:rPr lang="en-US" b="true" sz="2100">
                <a:solidFill>
                  <a:srgbClr val="026855"/>
                </a:solidFill>
                <a:latin typeface="Cambria Bold"/>
                <a:ea typeface="Cambria Bold"/>
                <a:cs typeface="Cambria Bold"/>
                <a:sym typeface="Cambria Bold"/>
              </a:rPr>
              <a:t>70% of students</a:t>
            </a:r>
            <a:r>
              <a:rPr lang="en-US" sz="2100">
                <a:solidFill>
                  <a:srgbClr val="026855"/>
                </a:solidFill>
                <a:latin typeface="Cambria"/>
                <a:ea typeface="Cambria"/>
                <a:cs typeface="Cambria"/>
                <a:sym typeface="Cambria"/>
              </a:rPr>
              <a:t> reported experiencing vastly heavier workloads and chronic burnout when transitioning to complex digital systems lacking centralized structure. </a:t>
            </a:r>
          </a:p>
          <a:p>
            <a:pPr algn="l" marL="488632" indent="-244316" lvl="1">
              <a:lnSpc>
                <a:spcPts val="3240"/>
              </a:lnSpc>
              <a:buFont typeface="Arial"/>
              <a:buChar char="•"/>
            </a:pPr>
            <a:r>
              <a:rPr lang="en-US" sz="2700">
                <a:solidFill>
                  <a:srgbClr val="026855"/>
                </a:solidFill>
                <a:latin typeface="Cambria"/>
                <a:ea typeface="Cambria"/>
                <a:cs typeface="Cambria"/>
                <a:sym typeface="Cambria"/>
              </a:rPr>
              <a:t>Current workflow, step by step : </a:t>
            </a:r>
          </a:p>
          <a:p>
            <a:pPr algn="l" marL="488632" indent="-244316" lvl="1">
              <a:lnSpc>
                <a:spcPts val="3240"/>
              </a:lnSpc>
              <a:buFont typeface="Arial"/>
              <a:buChar char="•"/>
            </a:pPr>
            <a:r>
              <a:rPr lang="en-US" sz="2700">
                <a:solidFill>
                  <a:srgbClr val="026855"/>
                </a:solidFill>
                <a:latin typeface="Cambria"/>
                <a:ea typeface="Cambria"/>
                <a:cs typeface="Cambria"/>
                <a:sym typeface="Cambria"/>
              </a:rPr>
              <a:t>Receive academic information → Plan tasks using AI → Organize online study materials → Get the timetables made → Track the study progress →Take quick tests and get answers solved → Quick revision before examinations → Connect with peer groups and teachers</a:t>
            </a:r>
          </a:p>
          <a:p>
            <a:pPr algn="l">
              <a:lnSpc>
                <a:spcPts val="2520"/>
              </a:lnSpc>
            </a:pPr>
            <a:r>
              <a:rPr lang="en-US" sz="2100">
                <a:solidFill>
                  <a:srgbClr val="026855"/>
                </a:solidFill>
                <a:latin typeface="Cambria"/>
                <a:ea typeface="Cambria"/>
                <a:cs typeface="Cambria"/>
                <a:sym typeface="Cambria"/>
              </a:rPr>
              <a:t>      </a:t>
            </a:r>
          </a:p>
          <a:p>
            <a:pPr algn="l" marL="380048" indent="-190024" lvl="1">
              <a:lnSpc>
                <a:spcPts val="2520"/>
              </a:lnSpc>
            </a:pPr>
          </a:p>
        </p:txBody>
      </p:sp>
      <p:grpSp>
        <p:nvGrpSpPr>
          <p:cNvPr name="Group 39" id="39"/>
          <p:cNvGrpSpPr/>
          <p:nvPr/>
        </p:nvGrpSpPr>
        <p:grpSpPr>
          <a:xfrm rot="0">
            <a:off x="16888511" y="9614916"/>
            <a:ext cx="685800" cy="1207544"/>
            <a:chOff x="0" y="0"/>
            <a:chExt cx="914400" cy="1610058"/>
          </a:xfrm>
        </p:grpSpPr>
        <p:sp>
          <p:nvSpPr>
            <p:cNvPr name="Freeform 40" id="40"/>
            <p:cNvSpPr/>
            <p:nvPr/>
          </p:nvSpPr>
          <p:spPr>
            <a:xfrm flipH="false" flipV="false" rot="0">
              <a:off x="0" y="0"/>
              <a:ext cx="914400" cy="1610058"/>
            </a:xfrm>
            <a:custGeom>
              <a:avLst/>
              <a:gdLst/>
              <a:ahLst/>
              <a:cxnLst/>
              <a:rect r="r" b="b" t="t" l="l"/>
              <a:pathLst>
                <a:path h="1610058" w="914400">
                  <a:moveTo>
                    <a:pt x="0" y="0"/>
                  </a:moveTo>
                  <a:lnTo>
                    <a:pt x="914400" y="0"/>
                  </a:lnTo>
                  <a:lnTo>
                    <a:pt x="914400" y="1610058"/>
                  </a:lnTo>
                  <a:lnTo>
                    <a:pt x="0" y="1610058"/>
                  </a:lnTo>
                  <a:close/>
                </a:path>
              </a:pathLst>
            </a:custGeom>
            <a:blipFill>
              <a:blip r:embed="rId4">
                <a:alphaModFix amt="0"/>
              </a:blip>
              <a:stretch>
                <a:fillRect l="-61110" t="0" r="-61110" b="50817"/>
              </a:stretch>
            </a:blipFill>
          </p:spPr>
        </p:sp>
        <p:sp>
          <p:nvSpPr>
            <p:cNvPr name="TextBox 41" id="41"/>
            <p:cNvSpPr txBox="true"/>
            <p:nvPr/>
          </p:nvSpPr>
          <p:spPr>
            <a:xfrm>
              <a:off x="0" y="0"/>
              <a:ext cx="914400" cy="1610058"/>
            </a:xfrm>
            <a:prstGeom prst="rect">
              <a:avLst/>
            </a:prstGeom>
          </p:spPr>
          <p:txBody>
            <a:bodyPr anchor="ctr" rtlCol="false" tIns="0" lIns="0" bIns="0" rIns="0"/>
            <a:lstStyle/>
            <a:p>
              <a:pPr algn="ctr">
                <a:lnSpc>
                  <a:spcPts val="1980"/>
                </a:lnSpc>
              </a:pPr>
              <a:r>
                <a:rPr lang="en-US" sz="1650" b="true">
                  <a:solidFill>
                    <a:srgbClr val="052B35"/>
                  </a:solidFill>
                  <a:latin typeface="Cambria Bold"/>
                  <a:ea typeface="Cambria Bold"/>
                  <a:cs typeface="Cambria Bold"/>
                  <a:sym typeface="Cambria Bold"/>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1154353"/>
            <a:chOff x="0" y="0"/>
            <a:chExt cx="15239390" cy="1539137"/>
          </a:xfrm>
        </p:grpSpPr>
        <p:sp>
          <p:nvSpPr>
            <p:cNvPr name="Freeform 9" id="9"/>
            <p:cNvSpPr/>
            <p:nvPr/>
          </p:nvSpPr>
          <p:spPr>
            <a:xfrm flipH="false" flipV="false" rot="0">
              <a:off x="0" y="0"/>
              <a:ext cx="15239391" cy="1539137"/>
            </a:xfrm>
            <a:custGeom>
              <a:avLst/>
              <a:gdLst/>
              <a:ahLst/>
              <a:cxnLst/>
              <a:rect r="r" b="b" t="t" l="l"/>
              <a:pathLst>
                <a:path h="1539137" w="15239391">
                  <a:moveTo>
                    <a:pt x="0" y="0"/>
                  </a:moveTo>
                  <a:lnTo>
                    <a:pt x="15239391" y="0"/>
                  </a:lnTo>
                  <a:lnTo>
                    <a:pt x="15239391" y="1539137"/>
                  </a:lnTo>
                  <a:lnTo>
                    <a:pt x="0" y="1539137"/>
                  </a:lnTo>
                  <a:close/>
                </a:path>
              </a:pathLst>
            </a:custGeom>
            <a:blipFill>
              <a:blip r:embed="rId4">
                <a:alphaModFix amt="0"/>
              </a:blip>
              <a:stretch>
                <a:fillRect l="0" t="-160250" r="0" b="-125601"/>
              </a:stretch>
            </a:blipFill>
          </p:spPr>
        </p:sp>
        <p:sp>
          <p:nvSpPr>
            <p:cNvPr name="TextBox 10" id="10"/>
            <p:cNvSpPr txBox="true"/>
            <p:nvPr/>
          </p:nvSpPr>
          <p:spPr>
            <a:xfrm>
              <a:off x="0" y="0"/>
              <a:ext cx="15239390" cy="1539137"/>
            </a:xfrm>
            <a:prstGeom prst="rect">
              <a:avLst/>
            </a:prstGeom>
          </p:spPr>
          <p:txBody>
            <a:bodyPr anchor="ctr" rtlCol="false" tIns="0" lIns="0" bIns="0" rIns="0"/>
            <a:lstStyle/>
            <a:p>
              <a:pPr algn="ctr">
                <a:lnSpc>
                  <a:spcPts val="1889"/>
                </a:lnSpc>
              </a:pPr>
              <a:r>
                <a:rPr lang="en-US" sz="1575" spc="150">
                  <a:solidFill>
                    <a:srgbClr val="D3E6DD"/>
                  </a:solidFill>
                  <a:latin typeface="Cambria"/>
                  <a:ea typeface="Cambria"/>
                  <a:cs typeface="Cambria"/>
                  <a:sym typeface="Cambria"/>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KEY CHALLENGES</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590115"/>
            <a:chOff x="0" y="0"/>
            <a:chExt cx="3255264" cy="2120153"/>
          </a:xfrm>
        </p:grpSpPr>
        <p:sp>
          <p:nvSpPr>
            <p:cNvPr name="Freeform 29" id="29"/>
            <p:cNvSpPr/>
            <p:nvPr/>
          </p:nvSpPr>
          <p:spPr>
            <a:xfrm flipH="false" flipV="false" rot="0">
              <a:off x="0" y="0"/>
              <a:ext cx="3255264" cy="2120153"/>
            </a:xfrm>
            <a:custGeom>
              <a:avLst/>
              <a:gdLst/>
              <a:ahLst/>
              <a:cxnLst/>
              <a:rect r="r" b="b" t="t" l="l"/>
              <a:pathLst>
                <a:path h="2120153" w="3255264">
                  <a:moveTo>
                    <a:pt x="0" y="0"/>
                  </a:moveTo>
                  <a:lnTo>
                    <a:pt x="3255264" y="0"/>
                  </a:lnTo>
                  <a:lnTo>
                    <a:pt x="3255264" y="2120153"/>
                  </a:lnTo>
                  <a:lnTo>
                    <a:pt x="0" y="2120153"/>
                  </a:lnTo>
                  <a:close/>
                </a:path>
              </a:pathLst>
            </a:custGeom>
            <a:blipFill>
              <a:blip r:embed="rId4">
                <a:alphaModFix amt="0"/>
              </a:blip>
              <a:stretch>
                <a:fillRect l="-4781" t="0" r="-4781" b="34443"/>
              </a:stretch>
            </a:blipFill>
          </p:spPr>
        </p:sp>
        <p:sp>
          <p:nvSpPr>
            <p:cNvPr name="TextBox 30" id="30"/>
            <p:cNvSpPr txBox="true"/>
            <p:nvPr/>
          </p:nvSpPr>
          <p:spPr>
            <a:xfrm>
              <a:off x="0" y="-19050"/>
              <a:ext cx="3255264" cy="2139203"/>
            </a:xfrm>
            <a:prstGeom prst="rect">
              <a:avLst/>
            </a:prstGeom>
          </p:spPr>
          <p:txBody>
            <a:bodyPr anchor="ctr" rtlCol="false" tIns="0" lIns="0" bIns="0" rIns="0"/>
            <a:lstStyle/>
            <a:p>
              <a:pPr algn="l">
                <a:lnSpc>
                  <a:spcPts val="1620"/>
                </a:lnSpc>
              </a:pPr>
              <a:r>
                <a:rPr lang="en-US" b="true" sz="1350" spc="449">
                  <a:solidFill>
                    <a:srgbClr val="5B6F6B"/>
                  </a:solidFill>
                  <a:latin typeface="Cambria Bold"/>
                  <a:ea typeface="Cambria Bold"/>
                  <a:cs typeface="Cambria Bold"/>
                  <a:sym typeface="Cambria Bold"/>
                </a:rPr>
                <a:t>TEAM</a:t>
              </a:r>
            </a:p>
            <a:p>
              <a:pPr algn="l">
                <a:lnSpc>
                  <a:spcPts val="2700"/>
                </a:lnSpc>
              </a:pPr>
              <a:r>
                <a:rPr lang="en-US" b="true" sz="2250" spc="749">
                  <a:solidFill>
                    <a:srgbClr val="026855"/>
                  </a:solidFill>
                  <a:latin typeface="Cambria Bold"/>
                  <a:ea typeface="Cambria Bold"/>
                  <a:cs typeface="Cambria Bold"/>
                  <a:sym typeface="Cambria Bold"/>
                </a:rPr>
                <a:t>INNOVITA</a:t>
              </a:r>
            </a:p>
          </p:txBody>
        </p:sp>
      </p:grpSp>
      <p:grpSp>
        <p:nvGrpSpPr>
          <p:cNvPr name="Group 31" id="31"/>
          <p:cNvGrpSpPr/>
          <p:nvPr/>
        </p:nvGrpSpPr>
        <p:grpSpPr>
          <a:xfrm rot="0">
            <a:off x="822960" y="2194560"/>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652778" y="1500691"/>
            <a:ext cx="14401800" cy="1980269"/>
            <a:chOff x="0" y="0"/>
            <a:chExt cx="19202400" cy="2640359"/>
          </a:xfrm>
        </p:grpSpPr>
        <p:sp>
          <p:nvSpPr>
            <p:cNvPr name="Freeform 36" id="36"/>
            <p:cNvSpPr/>
            <p:nvPr/>
          </p:nvSpPr>
          <p:spPr>
            <a:xfrm flipH="false" flipV="false" rot="0">
              <a:off x="0" y="0"/>
              <a:ext cx="19202400" cy="2640359"/>
            </a:xfrm>
            <a:custGeom>
              <a:avLst/>
              <a:gdLst/>
              <a:ahLst/>
              <a:cxnLst/>
              <a:rect r="r" b="b" t="t" l="l"/>
              <a:pathLst>
                <a:path h="2640359" w="19202400">
                  <a:moveTo>
                    <a:pt x="0" y="0"/>
                  </a:moveTo>
                  <a:lnTo>
                    <a:pt x="19202400" y="0"/>
                  </a:lnTo>
                  <a:lnTo>
                    <a:pt x="19202400" y="2640359"/>
                  </a:lnTo>
                  <a:lnTo>
                    <a:pt x="0" y="2640359"/>
                  </a:lnTo>
                  <a:close/>
                </a:path>
              </a:pathLst>
            </a:custGeom>
            <a:blipFill>
              <a:blip r:embed="rId4">
                <a:alphaModFix amt="0"/>
              </a:blip>
              <a:stretch>
                <a:fillRect l="0" t="-122660" r="0" b="-60755"/>
              </a:stretch>
            </a:blipFill>
          </p:spPr>
        </p:sp>
        <p:sp>
          <p:nvSpPr>
            <p:cNvPr name="TextBox 37" id="37"/>
            <p:cNvSpPr txBox="true"/>
            <p:nvPr/>
          </p:nvSpPr>
          <p:spPr>
            <a:xfrm>
              <a:off x="0" y="-19050"/>
              <a:ext cx="19202400" cy="2659409"/>
            </a:xfrm>
            <a:prstGeom prst="rect">
              <a:avLst/>
            </a:prstGeom>
          </p:spPr>
          <p:txBody>
            <a:bodyPr anchor="ctr" rtlCol="false" tIns="0" lIns="0" bIns="0" rIns="0"/>
            <a:lstStyle/>
            <a:p>
              <a:pPr algn="l">
                <a:lnSpc>
                  <a:spcPts val="3240"/>
                </a:lnSpc>
              </a:pPr>
              <a:r>
                <a:rPr lang="en-US" sz="2700" b="true">
                  <a:solidFill>
                    <a:srgbClr val="094542"/>
                  </a:solidFill>
                  <a:latin typeface="Cambria Bold"/>
                  <a:ea typeface="Cambria Bold"/>
                  <a:cs typeface="Cambria Bold"/>
                  <a:sym typeface="Cambria Bold"/>
                </a:rPr>
                <a:t>Main difficulties, bottlenecks, root causes and consequences</a:t>
              </a:r>
            </a:p>
          </p:txBody>
        </p:sp>
      </p:grpSp>
      <p:sp>
        <p:nvSpPr>
          <p:cNvPr name="TextBox 38" id="38"/>
          <p:cNvSpPr txBox="true"/>
          <p:nvPr/>
        </p:nvSpPr>
        <p:spPr>
          <a:xfrm rot="0">
            <a:off x="1378458" y="2861310"/>
            <a:ext cx="15636240" cy="5962974"/>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26855"/>
                </a:solidFill>
                <a:latin typeface="Cambria"/>
                <a:ea typeface="Cambria"/>
                <a:cs typeface="Cambria"/>
                <a:sym typeface="Cambria"/>
              </a:rPr>
              <a:t>Main difficulties and bottlenecks</a:t>
            </a:r>
          </a:p>
          <a:p>
            <a:pPr algn="l" marL="453393" indent="-226697" lvl="1">
              <a:lnSpc>
                <a:spcPts val="2520"/>
              </a:lnSpc>
              <a:buFont typeface="Arial"/>
              <a:buChar char="•"/>
            </a:pPr>
            <a:r>
              <a:rPr lang="en-US" b="true" sz="2100">
                <a:solidFill>
                  <a:srgbClr val="026855"/>
                </a:solidFill>
                <a:latin typeface="Cambria Bold"/>
                <a:ea typeface="Cambria Bold"/>
                <a:cs typeface="Cambria Bold"/>
                <a:sym typeface="Cambria Bold"/>
              </a:rPr>
              <a:t>FRAGMENTED INFORMATION:</a:t>
            </a:r>
            <a:r>
              <a:rPr lang="en-US" sz="2100">
                <a:solidFill>
                  <a:srgbClr val="026855"/>
                </a:solidFill>
                <a:latin typeface="Cambria"/>
                <a:ea typeface="Cambria"/>
                <a:cs typeface="Cambria"/>
                <a:sym typeface="Cambria"/>
              </a:rPr>
              <a:t>- The students have their academic life spread accross everywhere, their assignments in 1 portal, notes deadlines and chat groups in another and revision materials in yet another app or portal.</a:t>
            </a:r>
          </a:p>
          <a:p>
            <a:pPr algn="l" marL="453393" indent="-226697" lvl="1">
              <a:lnSpc>
                <a:spcPts val="2520"/>
              </a:lnSpc>
              <a:buFont typeface="Arial"/>
              <a:buChar char="•"/>
            </a:pPr>
            <a:r>
              <a:rPr lang="en-US" b="true" sz="2100">
                <a:solidFill>
                  <a:srgbClr val="026855"/>
                </a:solidFill>
                <a:latin typeface="Cambria Bold"/>
                <a:ea typeface="Cambria Bold"/>
                <a:cs typeface="Cambria Bold"/>
                <a:sym typeface="Cambria Bold"/>
              </a:rPr>
              <a:t>MANUAL PLANNING:- </a:t>
            </a:r>
            <a:r>
              <a:rPr lang="en-US" sz="2100">
                <a:solidFill>
                  <a:srgbClr val="026855"/>
                </a:solidFill>
                <a:latin typeface="Cambria"/>
                <a:ea typeface="Cambria"/>
                <a:cs typeface="Cambria"/>
                <a:sym typeface="Cambria"/>
              </a:rPr>
              <a:t>The students are forced to build and update their own timetable, reminders and to do list all on their own and this manual tracking is stressful especially with academic routines and other updates constantly appearing to be organized </a:t>
            </a:r>
          </a:p>
          <a:p>
            <a:pPr algn="l" marL="453393" indent="-226697" lvl="1">
              <a:lnSpc>
                <a:spcPts val="2520"/>
              </a:lnSpc>
              <a:buFont typeface="Arial"/>
              <a:buChar char="•"/>
            </a:pPr>
            <a:r>
              <a:rPr lang="en-US" b="true" sz="2100">
                <a:solidFill>
                  <a:srgbClr val="026855"/>
                </a:solidFill>
                <a:latin typeface="Cambria Bold"/>
                <a:ea typeface="Cambria Bold"/>
                <a:cs typeface="Cambria Bold"/>
                <a:sym typeface="Cambria Bold"/>
              </a:rPr>
              <a:t>POOR TIME MANAGEMENT:- </a:t>
            </a:r>
            <a:r>
              <a:rPr lang="en-US" sz="2100">
                <a:solidFill>
                  <a:srgbClr val="026855"/>
                </a:solidFill>
                <a:latin typeface="Cambria"/>
                <a:ea typeface="Cambria"/>
                <a:cs typeface="Cambria"/>
                <a:sym typeface="Cambria"/>
              </a:rPr>
              <a:t>without a structured routine or smart scheduling the study effort becomes inconsistent. It leads to last minute cramming, High stress and poor memory retention especially before exams </a:t>
            </a:r>
          </a:p>
          <a:p>
            <a:pPr algn="l" marL="453393" indent="-226697" lvl="1">
              <a:lnSpc>
                <a:spcPts val="2520"/>
              </a:lnSpc>
              <a:buFont typeface="Arial"/>
              <a:buChar char="•"/>
            </a:pPr>
            <a:r>
              <a:rPr lang="en-US" b="true" sz="2100">
                <a:solidFill>
                  <a:srgbClr val="026855"/>
                </a:solidFill>
                <a:latin typeface="Cambria Bold"/>
                <a:ea typeface="Cambria Bold"/>
                <a:cs typeface="Cambria Bold"/>
                <a:sym typeface="Cambria Bold"/>
              </a:rPr>
              <a:t>LACK OF PERSONAL GUIDANCE:- </a:t>
            </a:r>
            <a:r>
              <a:rPr lang="en-US" sz="2100">
                <a:solidFill>
                  <a:srgbClr val="026855"/>
                </a:solidFill>
                <a:latin typeface="Cambria"/>
                <a:ea typeface="Cambria"/>
                <a:cs typeface="Cambria"/>
                <a:sym typeface="Cambria"/>
              </a:rPr>
              <a:t>Generic study methods and advices doesnt work because every student has their own strenght and weakness and wihtout a clear progress tracking or specialised study plans the students will have a hard time keeping with academics </a:t>
            </a:r>
          </a:p>
          <a:p>
            <a:pPr algn="l" marL="488632" indent="-244316" lvl="1">
              <a:lnSpc>
                <a:spcPts val="3240"/>
              </a:lnSpc>
              <a:buFont typeface="Arial"/>
              <a:buChar char="•"/>
            </a:pPr>
            <a:r>
              <a:rPr lang="en-US" sz="2700">
                <a:solidFill>
                  <a:srgbClr val="026855"/>
                </a:solidFill>
                <a:latin typeface="Cambria"/>
                <a:ea typeface="Cambria"/>
                <a:cs typeface="Cambria"/>
                <a:sym typeface="Cambria"/>
              </a:rPr>
              <a:t>Root causes behind them</a:t>
            </a:r>
          </a:p>
          <a:p>
            <a:pPr algn="l" marL="453393" indent="-226697" lvl="1">
              <a:lnSpc>
                <a:spcPts val="2520"/>
              </a:lnSpc>
              <a:buFont typeface="Arial"/>
              <a:buChar char="•"/>
            </a:pPr>
            <a:r>
              <a:rPr lang="en-US" sz="2100">
                <a:solidFill>
                  <a:srgbClr val="026855"/>
                </a:solidFill>
                <a:latin typeface="Cambria"/>
                <a:ea typeface="Cambria"/>
                <a:cs typeface="Cambria"/>
                <a:sym typeface="Cambria"/>
              </a:rPr>
              <a:t>Too many apps</a:t>
            </a:r>
          </a:p>
          <a:p>
            <a:pPr algn="l" marL="453393" indent="-226697" lvl="1">
              <a:lnSpc>
                <a:spcPts val="2520"/>
              </a:lnSpc>
              <a:buFont typeface="Arial"/>
              <a:buChar char="•"/>
            </a:pPr>
            <a:r>
              <a:rPr lang="en-US" sz="2100">
                <a:solidFill>
                  <a:srgbClr val="026855"/>
                </a:solidFill>
                <a:latin typeface="Cambria"/>
                <a:ea typeface="Cambria"/>
                <a:cs typeface="Cambria"/>
                <a:sym typeface="Cambria"/>
              </a:rPr>
              <a:t>unorganised tools </a:t>
            </a:r>
          </a:p>
          <a:p>
            <a:pPr algn="l" marL="453393" indent="-226697" lvl="1">
              <a:lnSpc>
                <a:spcPts val="2520"/>
              </a:lnSpc>
              <a:buFont typeface="Arial"/>
              <a:buChar char="•"/>
            </a:pPr>
            <a:r>
              <a:rPr lang="en-US" sz="2100">
                <a:solidFill>
                  <a:srgbClr val="026855"/>
                </a:solidFill>
                <a:latin typeface="Cambria"/>
                <a:ea typeface="Cambria"/>
                <a:cs typeface="Cambria"/>
                <a:sym typeface="Cambria"/>
              </a:rPr>
              <a:t>different learning patterns for each student</a:t>
            </a:r>
          </a:p>
          <a:p>
            <a:pPr algn="l" marL="488632" indent="-244316" lvl="1">
              <a:lnSpc>
                <a:spcPts val="3240"/>
              </a:lnSpc>
              <a:buFont typeface="Arial"/>
              <a:buChar char="•"/>
            </a:pPr>
            <a:r>
              <a:rPr lang="en-US" sz="2700">
                <a:solidFill>
                  <a:srgbClr val="026855"/>
                </a:solidFill>
                <a:latin typeface="Cambria"/>
                <a:ea typeface="Cambria"/>
                <a:cs typeface="Cambria"/>
                <a:sym typeface="Cambria"/>
              </a:rPr>
              <a:t>Consequences of leaving them unsolved</a:t>
            </a:r>
          </a:p>
          <a:p>
            <a:pPr algn="l" marL="453393" indent="-226697" lvl="1">
              <a:lnSpc>
                <a:spcPts val="2520"/>
              </a:lnSpc>
              <a:buFont typeface="Arial"/>
              <a:buChar char="•"/>
            </a:pPr>
            <a:r>
              <a:rPr lang="en-US" sz="2100">
                <a:solidFill>
                  <a:srgbClr val="026855"/>
                </a:solidFill>
                <a:latin typeface="Cambria"/>
                <a:ea typeface="Cambria"/>
                <a:cs typeface="Cambria"/>
                <a:sym typeface="Cambria"/>
              </a:rPr>
              <a:t>Students face hihg exhaustion and constantly worry about deadlines and cramming everything last minute</a:t>
            </a:r>
          </a:p>
          <a:p>
            <a:pPr algn="l" marL="453393" indent="-226697" lvl="1">
              <a:lnSpc>
                <a:spcPts val="2520"/>
              </a:lnSpc>
              <a:buFont typeface="Arial"/>
              <a:buChar char="•"/>
            </a:pPr>
            <a:r>
              <a:rPr lang="en-US" sz="2100">
                <a:solidFill>
                  <a:srgbClr val="026855"/>
                </a:solidFill>
                <a:latin typeface="Cambria"/>
                <a:ea typeface="Cambria"/>
                <a:cs typeface="Cambria"/>
                <a:sym typeface="Cambria"/>
              </a:rPr>
              <a:t>Lower grades and leads to poor planning </a:t>
            </a:r>
          </a:p>
          <a:p>
            <a:pPr algn="l" marL="453393" indent="-226697" lvl="1">
              <a:lnSpc>
                <a:spcPts val="2520"/>
              </a:lnSpc>
              <a:buFont typeface="Arial"/>
              <a:buChar char="•"/>
            </a:pPr>
            <a:r>
              <a:rPr lang="en-US" sz="2100">
                <a:solidFill>
                  <a:srgbClr val="026855"/>
                </a:solidFill>
                <a:latin typeface="Cambria"/>
                <a:ea typeface="Cambria"/>
                <a:cs typeface="Cambria"/>
                <a:sym typeface="Cambria"/>
              </a:rPr>
              <a:t>Student who get overwhelmed and stressed by these problems stop trying to organize their lives and academics entireley</a:t>
            </a:r>
          </a:p>
        </p:txBody>
      </p:sp>
      <p:grpSp>
        <p:nvGrpSpPr>
          <p:cNvPr name="Group 39" id="39"/>
          <p:cNvGrpSpPr/>
          <p:nvPr/>
        </p:nvGrpSpPr>
        <p:grpSpPr>
          <a:xfrm rot="0">
            <a:off x="16888511" y="9614916"/>
            <a:ext cx="685800" cy="1207544"/>
            <a:chOff x="0" y="0"/>
            <a:chExt cx="914400" cy="1610058"/>
          </a:xfrm>
        </p:grpSpPr>
        <p:sp>
          <p:nvSpPr>
            <p:cNvPr name="Freeform 40" id="40"/>
            <p:cNvSpPr/>
            <p:nvPr/>
          </p:nvSpPr>
          <p:spPr>
            <a:xfrm flipH="false" flipV="false" rot="0">
              <a:off x="0" y="0"/>
              <a:ext cx="914400" cy="1610058"/>
            </a:xfrm>
            <a:custGeom>
              <a:avLst/>
              <a:gdLst/>
              <a:ahLst/>
              <a:cxnLst/>
              <a:rect r="r" b="b" t="t" l="l"/>
              <a:pathLst>
                <a:path h="1610058" w="914400">
                  <a:moveTo>
                    <a:pt x="0" y="0"/>
                  </a:moveTo>
                  <a:lnTo>
                    <a:pt x="914400" y="0"/>
                  </a:lnTo>
                  <a:lnTo>
                    <a:pt x="914400" y="1610058"/>
                  </a:lnTo>
                  <a:lnTo>
                    <a:pt x="0" y="1610058"/>
                  </a:lnTo>
                  <a:close/>
                </a:path>
              </a:pathLst>
            </a:custGeom>
            <a:blipFill>
              <a:blip r:embed="rId4">
                <a:alphaModFix amt="0"/>
              </a:blip>
              <a:stretch>
                <a:fillRect l="-61110" t="0" r="-61110" b="50817"/>
              </a:stretch>
            </a:blipFill>
          </p:spPr>
        </p:sp>
        <p:sp>
          <p:nvSpPr>
            <p:cNvPr name="TextBox 41" id="41"/>
            <p:cNvSpPr txBox="true"/>
            <p:nvPr/>
          </p:nvSpPr>
          <p:spPr>
            <a:xfrm>
              <a:off x="0" y="0"/>
              <a:ext cx="914400" cy="1610058"/>
            </a:xfrm>
            <a:prstGeom prst="rect">
              <a:avLst/>
            </a:prstGeom>
          </p:spPr>
          <p:txBody>
            <a:bodyPr anchor="ctr" rtlCol="false" tIns="0" lIns="0" bIns="0" rIns="0"/>
            <a:lstStyle/>
            <a:p>
              <a:pPr algn="ctr">
                <a:lnSpc>
                  <a:spcPts val="1980"/>
                </a:lnSpc>
              </a:pPr>
              <a:r>
                <a:rPr lang="en-US" sz="1650" b="true">
                  <a:solidFill>
                    <a:srgbClr val="052B35"/>
                  </a:solidFill>
                  <a:latin typeface="Cambria Bold"/>
                  <a:ea typeface="Cambria Bold"/>
                  <a:cs typeface="Cambria Bold"/>
                  <a:sym typeface="Cambria Bold"/>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1154353"/>
            <a:chOff x="0" y="0"/>
            <a:chExt cx="15239390" cy="1539137"/>
          </a:xfrm>
        </p:grpSpPr>
        <p:sp>
          <p:nvSpPr>
            <p:cNvPr name="Freeform 9" id="9"/>
            <p:cNvSpPr/>
            <p:nvPr/>
          </p:nvSpPr>
          <p:spPr>
            <a:xfrm flipH="false" flipV="false" rot="0">
              <a:off x="0" y="0"/>
              <a:ext cx="15239391" cy="1539137"/>
            </a:xfrm>
            <a:custGeom>
              <a:avLst/>
              <a:gdLst/>
              <a:ahLst/>
              <a:cxnLst/>
              <a:rect r="r" b="b" t="t" l="l"/>
              <a:pathLst>
                <a:path h="1539137" w="15239391">
                  <a:moveTo>
                    <a:pt x="0" y="0"/>
                  </a:moveTo>
                  <a:lnTo>
                    <a:pt x="15239391" y="0"/>
                  </a:lnTo>
                  <a:lnTo>
                    <a:pt x="15239391" y="1539137"/>
                  </a:lnTo>
                  <a:lnTo>
                    <a:pt x="0" y="1539137"/>
                  </a:lnTo>
                  <a:close/>
                </a:path>
              </a:pathLst>
            </a:custGeom>
            <a:blipFill>
              <a:blip r:embed="rId4">
                <a:alphaModFix amt="0"/>
              </a:blip>
              <a:stretch>
                <a:fillRect l="0" t="-160250" r="0" b="-125601"/>
              </a:stretch>
            </a:blipFill>
          </p:spPr>
        </p:sp>
        <p:sp>
          <p:nvSpPr>
            <p:cNvPr name="TextBox 10" id="10"/>
            <p:cNvSpPr txBox="true"/>
            <p:nvPr/>
          </p:nvSpPr>
          <p:spPr>
            <a:xfrm>
              <a:off x="0" y="0"/>
              <a:ext cx="15239390" cy="1539137"/>
            </a:xfrm>
            <a:prstGeom prst="rect">
              <a:avLst/>
            </a:prstGeom>
          </p:spPr>
          <p:txBody>
            <a:bodyPr anchor="ctr" rtlCol="false" tIns="0" lIns="0" bIns="0" rIns="0"/>
            <a:lstStyle/>
            <a:p>
              <a:pPr algn="ctr">
                <a:lnSpc>
                  <a:spcPts val="1889"/>
                </a:lnSpc>
              </a:pPr>
              <a:r>
                <a:rPr lang="en-US" sz="1575" spc="150">
                  <a:solidFill>
                    <a:srgbClr val="D3E6DD"/>
                  </a:solidFill>
                  <a:latin typeface="Cambria"/>
                  <a:ea typeface="Cambria"/>
                  <a:cs typeface="Cambria"/>
                  <a:sym typeface="Cambria"/>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5877675" y="5520580"/>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EXISTING SOLUTIONS / APPROACHES</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590115"/>
            <a:chOff x="0" y="0"/>
            <a:chExt cx="3255264" cy="2120153"/>
          </a:xfrm>
        </p:grpSpPr>
        <p:sp>
          <p:nvSpPr>
            <p:cNvPr name="Freeform 29" id="29"/>
            <p:cNvSpPr/>
            <p:nvPr/>
          </p:nvSpPr>
          <p:spPr>
            <a:xfrm flipH="false" flipV="false" rot="0">
              <a:off x="0" y="0"/>
              <a:ext cx="3255264" cy="2120153"/>
            </a:xfrm>
            <a:custGeom>
              <a:avLst/>
              <a:gdLst/>
              <a:ahLst/>
              <a:cxnLst/>
              <a:rect r="r" b="b" t="t" l="l"/>
              <a:pathLst>
                <a:path h="2120153" w="3255264">
                  <a:moveTo>
                    <a:pt x="0" y="0"/>
                  </a:moveTo>
                  <a:lnTo>
                    <a:pt x="3255264" y="0"/>
                  </a:lnTo>
                  <a:lnTo>
                    <a:pt x="3255264" y="2120153"/>
                  </a:lnTo>
                  <a:lnTo>
                    <a:pt x="0" y="2120153"/>
                  </a:lnTo>
                  <a:close/>
                </a:path>
              </a:pathLst>
            </a:custGeom>
            <a:blipFill>
              <a:blip r:embed="rId4">
                <a:alphaModFix amt="0"/>
              </a:blip>
              <a:stretch>
                <a:fillRect l="-4781" t="0" r="-4781" b="34443"/>
              </a:stretch>
            </a:blipFill>
          </p:spPr>
        </p:sp>
        <p:sp>
          <p:nvSpPr>
            <p:cNvPr name="TextBox 30" id="30"/>
            <p:cNvSpPr txBox="true"/>
            <p:nvPr/>
          </p:nvSpPr>
          <p:spPr>
            <a:xfrm>
              <a:off x="0" y="-19050"/>
              <a:ext cx="3255264" cy="2139203"/>
            </a:xfrm>
            <a:prstGeom prst="rect">
              <a:avLst/>
            </a:prstGeom>
          </p:spPr>
          <p:txBody>
            <a:bodyPr anchor="ctr" rtlCol="false" tIns="0" lIns="0" bIns="0" rIns="0"/>
            <a:lstStyle/>
            <a:p>
              <a:pPr algn="l">
                <a:lnSpc>
                  <a:spcPts val="1620"/>
                </a:lnSpc>
              </a:pPr>
              <a:r>
                <a:rPr lang="en-US" b="true" sz="1350" spc="449">
                  <a:solidFill>
                    <a:srgbClr val="5B6F6B"/>
                  </a:solidFill>
                  <a:latin typeface="Cambria Bold"/>
                  <a:ea typeface="Cambria Bold"/>
                  <a:cs typeface="Cambria Bold"/>
                  <a:sym typeface="Cambria Bold"/>
                </a:rPr>
                <a:t>TEAM</a:t>
              </a:r>
            </a:p>
            <a:p>
              <a:pPr algn="l">
                <a:lnSpc>
                  <a:spcPts val="2700"/>
                </a:lnSpc>
              </a:pPr>
              <a:r>
                <a:rPr lang="en-US" b="true" sz="2250" spc="749">
                  <a:solidFill>
                    <a:srgbClr val="026855"/>
                  </a:solidFill>
                  <a:latin typeface="Cambria Bold"/>
                  <a:ea typeface="Cambria Bold"/>
                  <a:cs typeface="Cambria Bold"/>
                  <a:sym typeface="Cambria Bold"/>
                </a:rPr>
                <a:t>IN</a:t>
              </a:r>
              <a:r>
                <a:rPr lang="en-US" b="true" sz="2250" spc="749">
                  <a:solidFill>
                    <a:srgbClr val="026855"/>
                  </a:solidFill>
                  <a:latin typeface="Cambria Bold"/>
                  <a:ea typeface="Cambria Bold"/>
                  <a:cs typeface="Cambria Bold"/>
                  <a:sym typeface="Cambria Bold"/>
                </a:rPr>
                <a:t>NOVITA</a:t>
              </a:r>
            </a:p>
          </p:txBody>
        </p:sp>
      </p:grpSp>
      <p:grpSp>
        <p:nvGrpSpPr>
          <p:cNvPr name="Group 31" id="31"/>
          <p:cNvGrpSpPr/>
          <p:nvPr/>
        </p:nvGrpSpPr>
        <p:grpSpPr>
          <a:xfrm rot="0">
            <a:off x="822960" y="2194560"/>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652778" y="1500691"/>
            <a:ext cx="14401800" cy="1980269"/>
            <a:chOff x="0" y="0"/>
            <a:chExt cx="19202400" cy="2640359"/>
          </a:xfrm>
        </p:grpSpPr>
        <p:sp>
          <p:nvSpPr>
            <p:cNvPr name="Freeform 36" id="36"/>
            <p:cNvSpPr/>
            <p:nvPr/>
          </p:nvSpPr>
          <p:spPr>
            <a:xfrm flipH="false" flipV="false" rot="0">
              <a:off x="0" y="0"/>
              <a:ext cx="19202400" cy="2640359"/>
            </a:xfrm>
            <a:custGeom>
              <a:avLst/>
              <a:gdLst/>
              <a:ahLst/>
              <a:cxnLst/>
              <a:rect r="r" b="b" t="t" l="l"/>
              <a:pathLst>
                <a:path h="2640359" w="19202400">
                  <a:moveTo>
                    <a:pt x="0" y="0"/>
                  </a:moveTo>
                  <a:lnTo>
                    <a:pt x="19202400" y="0"/>
                  </a:lnTo>
                  <a:lnTo>
                    <a:pt x="19202400" y="2640359"/>
                  </a:lnTo>
                  <a:lnTo>
                    <a:pt x="0" y="2640359"/>
                  </a:lnTo>
                  <a:close/>
                </a:path>
              </a:pathLst>
            </a:custGeom>
            <a:blipFill>
              <a:blip r:embed="rId4">
                <a:alphaModFix amt="0"/>
              </a:blip>
              <a:stretch>
                <a:fillRect l="0" t="-122660" r="0" b="-60755"/>
              </a:stretch>
            </a:blipFill>
          </p:spPr>
        </p:sp>
        <p:sp>
          <p:nvSpPr>
            <p:cNvPr name="TextBox 37" id="37"/>
            <p:cNvSpPr txBox="true"/>
            <p:nvPr/>
          </p:nvSpPr>
          <p:spPr>
            <a:xfrm>
              <a:off x="0" y="-19050"/>
              <a:ext cx="19202400" cy="2659409"/>
            </a:xfrm>
            <a:prstGeom prst="rect">
              <a:avLst/>
            </a:prstGeom>
          </p:spPr>
          <p:txBody>
            <a:bodyPr anchor="ctr" rtlCol="false" tIns="0" lIns="0" bIns="0" rIns="0"/>
            <a:lstStyle/>
            <a:p>
              <a:pPr algn="l">
                <a:lnSpc>
                  <a:spcPts val="3240"/>
                </a:lnSpc>
              </a:pPr>
              <a:r>
                <a:rPr lang="en-US" sz="2700" b="true">
                  <a:solidFill>
                    <a:srgbClr val="094542"/>
                  </a:solidFill>
                  <a:latin typeface="Cambria Bold"/>
                  <a:ea typeface="Cambria Bold"/>
                  <a:cs typeface="Cambria Bold"/>
                  <a:sym typeface="Cambria Bold"/>
                </a:rPr>
                <a:t>What is already being done, and where it falls short</a:t>
              </a:r>
            </a:p>
          </p:txBody>
        </p:sp>
      </p:grpSp>
      <p:grpSp>
        <p:nvGrpSpPr>
          <p:cNvPr name="Group 38" id="38"/>
          <p:cNvGrpSpPr/>
          <p:nvPr/>
        </p:nvGrpSpPr>
        <p:grpSpPr>
          <a:xfrm rot="0">
            <a:off x="16888511" y="9614916"/>
            <a:ext cx="685800" cy="1207544"/>
            <a:chOff x="0" y="0"/>
            <a:chExt cx="914400" cy="1610058"/>
          </a:xfrm>
        </p:grpSpPr>
        <p:sp>
          <p:nvSpPr>
            <p:cNvPr name="Freeform 39" id="39"/>
            <p:cNvSpPr/>
            <p:nvPr/>
          </p:nvSpPr>
          <p:spPr>
            <a:xfrm flipH="false" flipV="false" rot="0">
              <a:off x="0" y="0"/>
              <a:ext cx="914400" cy="1610058"/>
            </a:xfrm>
            <a:custGeom>
              <a:avLst/>
              <a:gdLst/>
              <a:ahLst/>
              <a:cxnLst/>
              <a:rect r="r" b="b" t="t" l="l"/>
              <a:pathLst>
                <a:path h="1610058" w="914400">
                  <a:moveTo>
                    <a:pt x="0" y="0"/>
                  </a:moveTo>
                  <a:lnTo>
                    <a:pt x="914400" y="0"/>
                  </a:lnTo>
                  <a:lnTo>
                    <a:pt x="914400" y="1610058"/>
                  </a:lnTo>
                  <a:lnTo>
                    <a:pt x="0" y="1610058"/>
                  </a:lnTo>
                  <a:close/>
                </a:path>
              </a:pathLst>
            </a:custGeom>
            <a:blipFill>
              <a:blip r:embed="rId4">
                <a:alphaModFix amt="0"/>
              </a:blip>
              <a:stretch>
                <a:fillRect l="-61110" t="0" r="-61110" b="50817"/>
              </a:stretch>
            </a:blipFill>
          </p:spPr>
        </p:sp>
        <p:sp>
          <p:nvSpPr>
            <p:cNvPr name="TextBox 40" id="40"/>
            <p:cNvSpPr txBox="true"/>
            <p:nvPr/>
          </p:nvSpPr>
          <p:spPr>
            <a:xfrm>
              <a:off x="0" y="0"/>
              <a:ext cx="914400" cy="1610058"/>
            </a:xfrm>
            <a:prstGeom prst="rect">
              <a:avLst/>
            </a:prstGeom>
          </p:spPr>
          <p:txBody>
            <a:bodyPr anchor="ctr" rtlCol="false" tIns="0" lIns="0" bIns="0" rIns="0"/>
            <a:lstStyle/>
            <a:p>
              <a:pPr algn="ctr">
                <a:lnSpc>
                  <a:spcPts val="1980"/>
                </a:lnSpc>
              </a:pPr>
              <a:r>
                <a:rPr lang="en-US" sz="1650" b="true">
                  <a:solidFill>
                    <a:srgbClr val="052B35"/>
                  </a:solidFill>
                  <a:latin typeface="Cambria Bold"/>
                  <a:ea typeface="Cambria Bold"/>
                  <a:cs typeface="Cambria Bold"/>
                  <a:sym typeface="Cambria Bold"/>
                </a:rPr>
                <a:t>6</a:t>
              </a:r>
            </a:p>
          </p:txBody>
        </p:sp>
      </p:grpSp>
      <p:sp>
        <p:nvSpPr>
          <p:cNvPr name="TextBox 41" id="41"/>
          <p:cNvSpPr txBox="true"/>
          <p:nvPr/>
        </p:nvSpPr>
        <p:spPr>
          <a:xfrm rot="0">
            <a:off x="1371600" y="2893238"/>
            <a:ext cx="13943590" cy="7554297"/>
          </a:xfrm>
          <a:prstGeom prst="rect">
            <a:avLst/>
          </a:prstGeom>
        </p:spPr>
        <p:txBody>
          <a:bodyPr anchor="t" rtlCol="false" tIns="0" lIns="0" bIns="0" rIns="0">
            <a:spAutoFit/>
          </a:bodyPr>
          <a:lstStyle/>
          <a:p>
            <a:pPr algn="l" marL="535543" indent="-267772" lvl="1">
              <a:lnSpc>
                <a:spcPts val="2976"/>
              </a:lnSpc>
              <a:buFont typeface="Arial"/>
              <a:buChar char="•"/>
            </a:pPr>
            <a:r>
              <a:rPr lang="en-US" b="true" sz="2480" spc="235">
                <a:solidFill>
                  <a:srgbClr val="026855"/>
                </a:solidFill>
                <a:latin typeface="Cambria Bold"/>
                <a:ea typeface="Cambria Bold"/>
                <a:cs typeface="Cambria Bold"/>
                <a:sym typeface="Cambria Bold"/>
              </a:rPr>
              <a:t>Existing Alternatives/ Current Platforms:</a:t>
            </a:r>
          </a:p>
          <a:p>
            <a:pPr algn="l">
              <a:lnSpc>
                <a:spcPts val="2645"/>
              </a:lnSpc>
            </a:pPr>
            <a:r>
              <a:rPr lang="en-US" sz="2204" spc="209">
                <a:solidFill>
                  <a:srgbClr val="026855"/>
                </a:solidFill>
                <a:latin typeface="Cambria"/>
                <a:ea typeface="Cambria"/>
                <a:cs typeface="Cambria"/>
                <a:sym typeface="Cambria"/>
              </a:rPr>
              <a:t>         </a:t>
            </a:r>
            <a:r>
              <a:rPr lang="en-US" sz="2204" spc="209">
                <a:solidFill>
                  <a:srgbClr val="026855"/>
                </a:solidFill>
                <a:latin typeface="Cambria"/>
                <a:ea typeface="Cambria"/>
                <a:cs typeface="Cambria"/>
                <a:sym typeface="Cambria"/>
              </a:rPr>
              <a:t> Learning Management Systems (LMS) suc</a:t>
            </a:r>
            <a:r>
              <a:rPr lang="en-US" sz="2204" spc="209">
                <a:solidFill>
                  <a:srgbClr val="026855"/>
                </a:solidFill>
                <a:latin typeface="Cambria"/>
                <a:ea typeface="Cambria"/>
                <a:cs typeface="Cambria"/>
                <a:sym typeface="Cambria"/>
              </a:rPr>
              <a:t>h as Masai LMS and Classes 365 are widely used by</a:t>
            </a:r>
          </a:p>
          <a:p>
            <a:pPr algn="l">
              <a:lnSpc>
                <a:spcPts val="2645"/>
              </a:lnSpc>
            </a:pPr>
            <a:r>
              <a:rPr lang="en-US" sz="2204" spc="209">
                <a:solidFill>
                  <a:srgbClr val="026855"/>
                </a:solidFill>
                <a:latin typeface="Cambria"/>
                <a:ea typeface="Cambria"/>
                <a:cs typeface="Cambria"/>
                <a:sym typeface="Cambria"/>
              </a:rPr>
              <a:t>          students.</a:t>
            </a:r>
          </a:p>
          <a:p>
            <a:pPr algn="l" marL="535543" indent="-267772" lvl="1">
              <a:lnSpc>
                <a:spcPts val="2976"/>
              </a:lnSpc>
              <a:buFont typeface="Arial"/>
              <a:buChar char="•"/>
            </a:pPr>
            <a:r>
              <a:rPr lang="en-US" b="true" sz="2480" spc="235">
                <a:solidFill>
                  <a:srgbClr val="026855"/>
                </a:solidFill>
                <a:latin typeface="Cambria Bold"/>
                <a:ea typeface="Cambria Bold"/>
                <a:cs typeface="Cambria Bold"/>
                <a:sym typeface="Cambria Bold"/>
              </a:rPr>
              <a:t>Limitations of Existing Systems</a:t>
            </a:r>
          </a:p>
          <a:p>
            <a:pPr algn="l">
              <a:lnSpc>
                <a:spcPts val="2645"/>
              </a:lnSpc>
            </a:pPr>
            <a:r>
              <a:rPr lang="en-US" b="true" sz="2204" spc="209">
                <a:solidFill>
                  <a:srgbClr val="026855"/>
                </a:solidFill>
                <a:latin typeface="Cambria Bold"/>
                <a:ea typeface="Cambria Bold"/>
                <a:cs typeface="Cambria Bold"/>
                <a:sym typeface="Cambria Bold"/>
              </a:rPr>
              <a:t>          </a:t>
            </a:r>
            <a:r>
              <a:rPr lang="en-US" sz="2204" spc="209">
                <a:solidFill>
                  <a:srgbClr val="026855"/>
                </a:solidFill>
                <a:latin typeface="Cambria"/>
                <a:ea typeface="Cambria"/>
                <a:cs typeface="Cambria"/>
                <a:sym typeface="Cambria"/>
              </a:rPr>
              <a:t>Complex User Interface: Platforms suffer from rigid, difficult-to-navigate user experiences.</a:t>
            </a:r>
          </a:p>
          <a:p>
            <a:pPr algn="l" marL="535543" indent="-267772" lvl="1">
              <a:lnSpc>
                <a:spcPts val="2976"/>
              </a:lnSpc>
              <a:buFont typeface="Arial"/>
              <a:buChar char="•"/>
            </a:pPr>
            <a:r>
              <a:rPr lang="en-US" b="true" sz="2480" spc="235">
                <a:solidFill>
                  <a:srgbClr val="026855"/>
                </a:solidFill>
                <a:latin typeface="Cambria Bold"/>
                <a:ea typeface="Cambria Bold"/>
                <a:cs typeface="Cambria Bold"/>
                <a:sym typeface="Cambria Bold"/>
              </a:rPr>
              <a:t>Fragmented Study Material:</a:t>
            </a:r>
          </a:p>
          <a:p>
            <a:pPr algn="l">
              <a:lnSpc>
                <a:spcPts val="2645"/>
              </a:lnSpc>
            </a:pPr>
            <a:r>
              <a:rPr lang="en-US" b="true" sz="2204" spc="209">
                <a:solidFill>
                  <a:srgbClr val="026855"/>
                </a:solidFill>
                <a:latin typeface="Cambria Bold"/>
                <a:ea typeface="Cambria Bold"/>
                <a:cs typeface="Cambria Bold"/>
                <a:sym typeface="Cambria Bold"/>
              </a:rPr>
              <a:t>          </a:t>
            </a:r>
            <a:r>
              <a:rPr lang="en-US" sz="2204" spc="209">
                <a:solidFill>
                  <a:srgbClr val="026855"/>
                </a:solidFill>
                <a:latin typeface="Cambria"/>
                <a:ea typeface="Cambria"/>
                <a:cs typeface="Cambria"/>
                <a:sym typeface="Cambria"/>
              </a:rPr>
              <a:t>Systems fail to offer centralized, stable notes for individual academic topics.</a:t>
            </a:r>
          </a:p>
          <a:p>
            <a:pPr algn="l" marL="535543" indent="-267772" lvl="1">
              <a:lnSpc>
                <a:spcPts val="2976"/>
              </a:lnSpc>
              <a:buFont typeface="Arial"/>
              <a:buChar char="•"/>
            </a:pPr>
            <a:r>
              <a:rPr lang="en-US" b="true" sz="2480" spc="235">
                <a:solidFill>
                  <a:srgbClr val="026855"/>
                </a:solidFill>
                <a:latin typeface="Cambria Bold"/>
                <a:ea typeface="Cambria Bold"/>
                <a:cs typeface="Cambria Bold"/>
                <a:sym typeface="Cambria Bold"/>
              </a:rPr>
              <a:t>Static Exam Preparation:</a:t>
            </a:r>
          </a:p>
          <a:p>
            <a:pPr algn="l">
              <a:lnSpc>
                <a:spcPts val="2645"/>
              </a:lnSpc>
            </a:pPr>
            <a:r>
              <a:rPr lang="en-US" b="true" sz="2204" spc="209">
                <a:solidFill>
                  <a:srgbClr val="026855"/>
                </a:solidFill>
                <a:latin typeface="Cambria Bold"/>
                <a:ea typeface="Cambria Bold"/>
                <a:cs typeface="Cambria Bold"/>
                <a:sym typeface="Cambria Bold"/>
              </a:rPr>
              <a:t>          </a:t>
            </a:r>
            <a:r>
              <a:rPr lang="en-US" sz="2204" spc="209">
                <a:solidFill>
                  <a:srgbClr val="026855"/>
                </a:solidFill>
                <a:latin typeface="Cambria"/>
                <a:ea typeface="Cambria"/>
                <a:cs typeface="Cambria"/>
                <a:sym typeface="Cambria"/>
              </a:rPr>
              <a:t>Software lacks the ability to generate customized revision notes or tailored study guides</a:t>
            </a:r>
          </a:p>
          <a:p>
            <a:pPr algn="l">
              <a:lnSpc>
                <a:spcPts val="2645"/>
              </a:lnSpc>
            </a:pPr>
            <a:r>
              <a:rPr lang="en-US" sz="2204" spc="209">
                <a:solidFill>
                  <a:srgbClr val="026855"/>
                </a:solidFill>
                <a:latin typeface="Cambria"/>
                <a:ea typeface="Cambria"/>
                <a:cs typeface="Cambria"/>
                <a:sym typeface="Cambria"/>
              </a:rPr>
              <a:t>          prior to examinations.</a:t>
            </a:r>
          </a:p>
          <a:p>
            <a:pPr algn="l" marL="476041" indent="-238020" lvl="1">
              <a:lnSpc>
                <a:spcPts val="2645"/>
              </a:lnSpc>
              <a:buFont typeface="Arial"/>
              <a:buChar char="•"/>
            </a:pPr>
            <a:r>
              <a:rPr lang="en-US" b="true" sz="2204" spc="209">
                <a:solidFill>
                  <a:srgbClr val="026855"/>
                </a:solidFill>
                <a:latin typeface="Cambria Bold"/>
                <a:ea typeface="Cambria Bold"/>
                <a:cs typeface="Cambria Bold"/>
                <a:sym typeface="Cambria Bold"/>
              </a:rPr>
              <a:t>Key Challenges &amp; Open Gaps</a:t>
            </a:r>
          </a:p>
          <a:p>
            <a:pPr algn="l" marL="952082" indent="-317361" lvl="2">
              <a:lnSpc>
                <a:spcPts val="2645"/>
              </a:lnSpc>
              <a:buAutoNum type="alphaLcPeriod" startAt="1"/>
            </a:pPr>
            <a:r>
              <a:rPr lang="en-US" b="true" sz="2204" spc="209">
                <a:solidFill>
                  <a:srgbClr val="026855"/>
                </a:solidFill>
                <a:latin typeface="Cambria Bold"/>
                <a:ea typeface="Cambria Bold"/>
                <a:cs typeface="Cambria Bold"/>
                <a:sym typeface="Cambria Bold"/>
              </a:rPr>
              <a:t>Lack of Data-Driven Insights:</a:t>
            </a:r>
            <a:r>
              <a:rPr lang="en-US" sz="2204" spc="209">
                <a:solidFill>
                  <a:srgbClr val="026855"/>
                </a:solidFill>
                <a:latin typeface="Cambria"/>
                <a:ea typeface="Cambria"/>
                <a:cs typeface="Cambria"/>
                <a:sym typeface="Cambria"/>
              </a:rPr>
              <a:t> Competitors do not leverage uploaded answer sheets for automated test analysis or comprehensive SWOT tracking.</a:t>
            </a:r>
          </a:p>
          <a:p>
            <a:pPr algn="l" marL="952082" indent="-317361" lvl="2">
              <a:lnSpc>
                <a:spcPts val="2645"/>
              </a:lnSpc>
              <a:buAutoNum type="alphaLcPeriod" startAt="1"/>
            </a:pPr>
            <a:r>
              <a:rPr lang="en-US" b="true" sz="2204" spc="209">
                <a:solidFill>
                  <a:srgbClr val="026855"/>
                </a:solidFill>
                <a:latin typeface="Cambria Bold"/>
                <a:ea typeface="Cambria Bold"/>
                <a:cs typeface="Cambria Bold"/>
                <a:sym typeface="Cambria Bold"/>
              </a:rPr>
              <a:t>Inflexible Content Repositories:</a:t>
            </a:r>
            <a:r>
              <a:rPr lang="en-US" sz="2204" spc="209">
                <a:solidFill>
                  <a:srgbClr val="026855"/>
                </a:solidFill>
                <a:latin typeface="Cambria"/>
                <a:ea typeface="Cambria"/>
                <a:cs typeface="Cambria"/>
                <a:sym typeface="Cambria"/>
              </a:rPr>
              <a:t> Current solutions lack customizable "Notes Vaults" that allow students to integrate personalized multimedia content, such as external video links and study playlists.</a:t>
            </a:r>
          </a:p>
          <a:p>
            <a:pPr algn="l">
              <a:lnSpc>
                <a:spcPts val="2645"/>
              </a:lnSpc>
            </a:pPr>
          </a:p>
          <a:p>
            <a:pPr algn="l">
              <a:lnSpc>
                <a:spcPts val="2976"/>
              </a:lnSpc>
            </a:pPr>
          </a:p>
          <a:p>
            <a:pPr algn="l">
              <a:lnSpc>
                <a:spcPts val="2976"/>
              </a:lnSpc>
            </a:pPr>
          </a:p>
          <a:p>
            <a:pPr algn="ctr">
              <a:lnSpc>
                <a:spcPts val="2976"/>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1154353"/>
            <a:chOff x="0" y="0"/>
            <a:chExt cx="15239390" cy="1539137"/>
          </a:xfrm>
        </p:grpSpPr>
        <p:sp>
          <p:nvSpPr>
            <p:cNvPr name="Freeform 9" id="9"/>
            <p:cNvSpPr/>
            <p:nvPr/>
          </p:nvSpPr>
          <p:spPr>
            <a:xfrm flipH="false" flipV="false" rot="0">
              <a:off x="0" y="0"/>
              <a:ext cx="15239391" cy="1539137"/>
            </a:xfrm>
            <a:custGeom>
              <a:avLst/>
              <a:gdLst/>
              <a:ahLst/>
              <a:cxnLst/>
              <a:rect r="r" b="b" t="t" l="l"/>
              <a:pathLst>
                <a:path h="1539137" w="15239391">
                  <a:moveTo>
                    <a:pt x="0" y="0"/>
                  </a:moveTo>
                  <a:lnTo>
                    <a:pt x="15239391" y="0"/>
                  </a:lnTo>
                  <a:lnTo>
                    <a:pt x="15239391" y="1539137"/>
                  </a:lnTo>
                  <a:lnTo>
                    <a:pt x="0" y="1539137"/>
                  </a:lnTo>
                  <a:close/>
                </a:path>
              </a:pathLst>
            </a:custGeom>
            <a:blipFill>
              <a:blip r:embed="rId4">
                <a:alphaModFix amt="0"/>
              </a:blip>
              <a:stretch>
                <a:fillRect l="0" t="-160250" r="0" b="-125601"/>
              </a:stretch>
            </a:blipFill>
          </p:spPr>
        </p:sp>
        <p:sp>
          <p:nvSpPr>
            <p:cNvPr name="TextBox 10" id="10"/>
            <p:cNvSpPr txBox="true"/>
            <p:nvPr/>
          </p:nvSpPr>
          <p:spPr>
            <a:xfrm>
              <a:off x="0" y="0"/>
              <a:ext cx="15239390" cy="1539137"/>
            </a:xfrm>
            <a:prstGeom prst="rect">
              <a:avLst/>
            </a:prstGeom>
          </p:spPr>
          <p:txBody>
            <a:bodyPr anchor="ctr" rtlCol="false" tIns="0" lIns="0" bIns="0" rIns="0"/>
            <a:lstStyle/>
            <a:p>
              <a:pPr algn="ctr">
                <a:lnSpc>
                  <a:spcPts val="1889"/>
                </a:lnSpc>
              </a:pPr>
              <a:r>
                <a:rPr lang="en-US" sz="1575" spc="150">
                  <a:solidFill>
                    <a:srgbClr val="D3E6DD"/>
                  </a:solidFill>
                  <a:latin typeface="Cambria"/>
                  <a:ea typeface="Cambria"/>
                  <a:cs typeface="Cambria"/>
                  <a:sym typeface="Cambria"/>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PROBLEM INSIGHTS &amp; OPPORTUNITY AREAS</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590115"/>
            <a:chOff x="0" y="0"/>
            <a:chExt cx="3255264" cy="2120153"/>
          </a:xfrm>
        </p:grpSpPr>
        <p:sp>
          <p:nvSpPr>
            <p:cNvPr name="Freeform 29" id="29"/>
            <p:cNvSpPr/>
            <p:nvPr/>
          </p:nvSpPr>
          <p:spPr>
            <a:xfrm flipH="false" flipV="false" rot="0">
              <a:off x="0" y="0"/>
              <a:ext cx="3255264" cy="2120153"/>
            </a:xfrm>
            <a:custGeom>
              <a:avLst/>
              <a:gdLst/>
              <a:ahLst/>
              <a:cxnLst/>
              <a:rect r="r" b="b" t="t" l="l"/>
              <a:pathLst>
                <a:path h="2120153" w="3255264">
                  <a:moveTo>
                    <a:pt x="0" y="0"/>
                  </a:moveTo>
                  <a:lnTo>
                    <a:pt x="3255264" y="0"/>
                  </a:lnTo>
                  <a:lnTo>
                    <a:pt x="3255264" y="2120153"/>
                  </a:lnTo>
                  <a:lnTo>
                    <a:pt x="0" y="2120153"/>
                  </a:lnTo>
                  <a:close/>
                </a:path>
              </a:pathLst>
            </a:custGeom>
            <a:blipFill>
              <a:blip r:embed="rId4">
                <a:alphaModFix amt="0"/>
              </a:blip>
              <a:stretch>
                <a:fillRect l="-4781" t="0" r="-4781" b="34443"/>
              </a:stretch>
            </a:blipFill>
          </p:spPr>
        </p:sp>
        <p:sp>
          <p:nvSpPr>
            <p:cNvPr name="TextBox 30" id="30"/>
            <p:cNvSpPr txBox="true"/>
            <p:nvPr/>
          </p:nvSpPr>
          <p:spPr>
            <a:xfrm>
              <a:off x="0" y="-19050"/>
              <a:ext cx="3255264" cy="2139203"/>
            </a:xfrm>
            <a:prstGeom prst="rect">
              <a:avLst/>
            </a:prstGeom>
          </p:spPr>
          <p:txBody>
            <a:bodyPr anchor="ctr" rtlCol="false" tIns="0" lIns="0" bIns="0" rIns="0"/>
            <a:lstStyle/>
            <a:p>
              <a:pPr algn="l">
                <a:lnSpc>
                  <a:spcPts val="1620"/>
                </a:lnSpc>
              </a:pPr>
              <a:r>
                <a:rPr lang="en-US" b="true" sz="1350" spc="449">
                  <a:solidFill>
                    <a:srgbClr val="5B6F6B"/>
                  </a:solidFill>
                  <a:latin typeface="Cambria Bold"/>
                  <a:ea typeface="Cambria Bold"/>
                  <a:cs typeface="Cambria Bold"/>
                  <a:sym typeface="Cambria Bold"/>
                </a:rPr>
                <a:t>TEAM</a:t>
              </a:r>
            </a:p>
            <a:p>
              <a:pPr algn="l">
                <a:lnSpc>
                  <a:spcPts val="2700"/>
                </a:lnSpc>
              </a:pPr>
              <a:r>
                <a:rPr lang="en-US" b="true" sz="2250" spc="749">
                  <a:solidFill>
                    <a:srgbClr val="026855"/>
                  </a:solidFill>
                  <a:latin typeface="Cambria Bold"/>
                  <a:ea typeface="Cambria Bold"/>
                  <a:cs typeface="Cambria Bold"/>
                  <a:sym typeface="Cambria Bold"/>
                </a:rPr>
                <a:t>IN</a:t>
              </a:r>
              <a:r>
                <a:rPr lang="en-US" b="true" sz="2250" spc="749">
                  <a:solidFill>
                    <a:srgbClr val="026855"/>
                  </a:solidFill>
                  <a:latin typeface="Cambria Bold"/>
                  <a:ea typeface="Cambria Bold"/>
                  <a:cs typeface="Cambria Bold"/>
                  <a:sym typeface="Cambria Bold"/>
                </a:rPr>
                <a:t>NOVITA</a:t>
              </a:r>
            </a:p>
          </p:txBody>
        </p:sp>
      </p:grpSp>
      <p:grpSp>
        <p:nvGrpSpPr>
          <p:cNvPr name="Group 31" id="31"/>
          <p:cNvGrpSpPr/>
          <p:nvPr/>
        </p:nvGrpSpPr>
        <p:grpSpPr>
          <a:xfrm rot="0">
            <a:off x="822960" y="2194560"/>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652778" y="1428909"/>
            <a:ext cx="14401800" cy="2125206"/>
            <a:chOff x="0" y="0"/>
            <a:chExt cx="19202400" cy="2833608"/>
          </a:xfrm>
        </p:grpSpPr>
        <p:sp>
          <p:nvSpPr>
            <p:cNvPr name="Freeform 36" id="36"/>
            <p:cNvSpPr/>
            <p:nvPr/>
          </p:nvSpPr>
          <p:spPr>
            <a:xfrm flipH="false" flipV="false" rot="0">
              <a:off x="0" y="0"/>
              <a:ext cx="19202400" cy="2833608"/>
            </a:xfrm>
            <a:custGeom>
              <a:avLst/>
              <a:gdLst/>
              <a:ahLst/>
              <a:cxnLst/>
              <a:rect r="r" b="b" t="t" l="l"/>
              <a:pathLst>
                <a:path h="2833608" w="19202400">
                  <a:moveTo>
                    <a:pt x="0" y="0"/>
                  </a:moveTo>
                  <a:lnTo>
                    <a:pt x="19202400" y="0"/>
                  </a:lnTo>
                  <a:lnTo>
                    <a:pt x="19202400" y="2833608"/>
                  </a:lnTo>
                  <a:lnTo>
                    <a:pt x="0" y="2833608"/>
                  </a:lnTo>
                  <a:close/>
                </a:path>
              </a:pathLst>
            </a:custGeom>
            <a:blipFill>
              <a:blip r:embed="rId4">
                <a:alphaModFix amt="0"/>
              </a:blip>
              <a:stretch>
                <a:fillRect l="0" t="-114295" r="0" b="-49791"/>
              </a:stretch>
            </a:blipFill>
          </p:spPr>
        </p:sp>
        <p:sp>
          <p:nvSpPr>
            <p:cNvPr name="TextBox 37" id="37"/>
            <p:cNvSpPr txBox="true"/>
            <p:nvPr/>
          </p:nvSpPr>
          <p:spPr>
            <a:xfrm>
              <a:off x="0" y="-9525"/>
              <a:ext cx="19202400" cy="2843133"/>
            </a:xfrm>
            <a:prstGeom prst="rect">
              <a:avLst/>
            </a:prstGeom>
          </p:spPr>
          <p:txBody>
            <a:bodyPr anchor="ctr" rtlCol="false" tIns="0" lIns="0" bIns="0" rIns="0"/>
            <a:lstStyle/>
            <a:p>
              <a:pPr algn="l">
                <a:lnSpc>
                  <a:spcPts val="3479"/>
                </a:lnSpc>
              </a:pPr>
              <a:r>
                <a:rPr lang="en-US" sz="2899" b="true">
                  <a:solidFill>
                    <a:srgbClr val="094542"/>
                  </a:solidFill>
                  <a:latin typeface="Cambria Bold"/>
                  <a:ea typeface="Cambria Bold"/>
                  <a:cs typeface="Cambria Bold"/>
                  <a:sym typeface="Cambria Bold"/>
                </a:rPr>
                <a:t>Resources required to solve the problem</a:t>
              </a:r>
            </a:p>
          </p:txBody>
        </p:sp>
      </p:grpSp>
      <p:grpSp>
        <p:nvGrpSpPr>
          <p:cNvPr name="Group 38" id="38"/>
          <p:cNvGrpSpPr/>
          <p:nvPr/>
        </p:nvGrpSpPr>
        <p:grpSpPr>
          <a:xfrm rot="0">
            <a:off x="16888511" y="9614916"/>
            <a:ext cx="685800" cy="1207544"/>
            <a:chOff x="0" y="0"/>
            <a:chExt cx="914400" cy="1610058"/>
          </a:xfrm>
        </p:grpSpPr>
        <p:sp>
          <p:nvSpPr>
            <p:cNvPr name="Freeform 39" id="39"/>
            <p:cNvSpPr/>
            <p:nvPr/>
          </p:nvSpPr>
          <p:spPr>
            <a:xfrm flipH="false" flipV="false" rot="0">
              <a:off x="0" y="0"/>
              <a:ext cx="914400" cy="1610058"/>
            </a:xfrm>
            <a:custGeom>
              <a:avLst/>
              <a:gdLst/>
              <a:ahLst/>
              <a:cxnLst/>
              <a:rect r="r" b="b" t="t" l="l"/>
              <a:pathLst>
                <a:path h="1610058" w="914400">
                  <a:moveTo>
                    <a:pt x="0" y="0"/>
                  </a:moveTo>
                  <a:lnTo>
                    <a:pt x="914400" y="0"/>
                  </a:lnTo>
                  <a:lnTo>
                    <a:pt x="914400" y="1610058"/>
                  </a:lnTo>
                  <a:lnTo>
                    <a:pt x="0" y="1610058"/>
                  </a:lnTo>
                  <a:close/>
                </a:path>
              </a:pathLst>
            </a:custGeom>
            <a:blipFill>
              <a:blip r:embed="rId4">
                <a:alphaModFix amt="0"/>
              </a:blip>
              <a:stretch>
                <a:fillRect l="-61110" t="0" r="-61110" b="50817"/>
              </a:stretch>
            </a:blipFill>
          </p:spPr>
        </p:sp>
        <p:sp>
          <p:nvSpPr>
            <p:cNvPr name="TextBox 40" id="40"/>
            <p:cNvSpPr txBox="true"/>
            <p:nvPr/>
          </p:nvSpPr>
          <p:spPr>
            <a:xfrm>
              <a:off x="0" y="0"/>
              <a:ext cx="914400" cy="1610058"/>
            </a:xfrm>
            <a:prstGeom prst="rect">
              <a:avLst/>
            </a:prstGeom>
          </p:spPr>
          <p:txBody>
            <a:bodyPr anchor="ctr" rtlCol="false" tIns="0" lIns="0" bIns="0" rIns="0"/>
            <a:lstStyle/>
            <a:p>
              <a:pPr algn="ctr">
                <a:lnSpc>
                  <a:spcPts val="1980"/>
                </a:lnSpc>
              </a:pPr>
              <a:r>
                <a:rPr lang="en-US" sz="1650" b="true">
                  <a:solidFill>
                    <a:srgbClr val="052B35"/>
                  </a:solidFill>
                  <a:latin typeface="Cambria Bold"/>
                  <a:ea typeface="Cambria Bold"/>
                  <a:cs typeface="Cambria Bold"/>
                  <a:sym typeface="Cambria Bold"/>
                </a:rPr>
                <a:t>7</a:t>
              </a:r>
            </a:p>
          </p:txBody>
        </p:sp>
      </p:grpSp>
      <p:sp>
        <p:nvSpPr>
          <p:cNvPr name="TextBox 41" id="41"/>
          <p:cNvSpPr txBox="true"/>
          <p:nvPr/>
        </p:nvSpPr>
        <p:spPr>
          <a:xfrm rot="0">
            <a:off x="1500530" y="2788049"/>
            <a:ext cx="15286482" cy="1730189"/>
          </a:xfrm>
          <a:prstGeom prst="rect">
            <a:avLst/>
          </a:prstGeom>
        </p:spPr>
        <p:txBody>
          <a:bodyPr anchor="t" rtlCol="false" tIns="0" lIns="0" bIns="0" rIns="0">
            <a:spAutoFit/>
          </a:bodyPr>
          <a:lstStyle/>
          <a:p>
            <a:pPr algn="l" marL="699427" indent="-349713" lvl="1">
              <a:lnSpc>
                <a:spcPts val="3887"/>
              </a:lnSpc>
              <a:buFont typeface="Arial"/>
              <a:buChar char="•"/>
            </a:pPr>
            <a:r>
              <a:rPr lang="en-US" sz="3239">
                <a:solidFill>
                  <a:srgbClr val="026855"/>
                </a:solidFill>
                <a:latin typeface="Cambria"/>
                <a:ea typeface="Cambria"/>
                <a:cs typeface="Cambria"/>
                <a:sym typeface="Cambria"/>
              </a:rPr>
              <a:t>Hardware Requirements</a:t>
            </a:r>
          </a:p>
          <a:p>
            <a:pPr algn="l" marL="382821" indent="-191411" lvl="1">
              <a:lnSpc>
                <a:spcPts val="2482"/>
              </a:lnSpc>
              <a:buFont typeface="Arial"/>
              <a:buChar char="•"/>
            </a:pPr>
            <a:r>
              <a:rPr lang="en-US" sz="1773">
                <a:solidFill>
                  <a:srgbClr val="026855"/>
                </a:solidFill>
                <a:latin typeface="Cambria"/>
                <a:ea typeface="Cambria"/>
                <a:cs typeface="Cambria"/>
                <a:sym typeface="Cambria"/>
              </a:rPr>
              <a:t>Students should be able to access the application through their smartphones or laptops, while our development team will use computers to design, build, and test the system. An internet connection will be required for cloud synchronization, notifications, and AI-powered features. Wherever practical, we will also make basic information available offline so that students can access previously saved schedules and notes even when their internet connection is unavailable.</a:t>
            </a:r>
          </a:p>
        </p:txBody>
      </p:sp>
      <p:sp>
        <p:nvSpPr>
          <p:cNvPr name="TextBox 42" id="42"/>
          <p:cNvSpPr txBox="true"/>
          <p:nvPr/>
        </p:nvSpPr>
        <p:spPr>
          <a:xfrm rot="0">
            <a:off x="1508760" y="4365506"/>
            <a:ext cx="15286482" cy="2358875"/>
          </a:xfrm>
          <a:prstGeom prst="rect">
            <a:avLst/>
          </a:prstGeom>
        </p:spPr>
        <p:txBody>
          <a:bodyPr anchor="t" rtlCol="false" tIns="0" lIns="0" bIns="0" rIns="0">
            <a:spAutoFit/>
          </a:bodyPr>
          <a:lstStyle/>
          <a:p>
            <a:pPr algn="l" marL="699427" indent="-349713" lvl="1">
              <a:lnSpc>
                <a:spcPts val="3887"/>
              </a:lnSpc>
              <a:buFont typeface="Arial"/>
              <a:buChar char="•"/>
            </a:pPr>
            <a:r>
              <a:rPr lang="en-US" sz="3239">
                <a:solidFill>
                  <a:srgbClr val="026855"/>
                </a:solidFill>
                <a:latin typeface="Cambria"/>
                <a:ea typeface="Cambria"/>
                <a:cs typeface="Cambria"/>
                <a:sym typeface="Cambria"/>
              </a:rPr>
              <a:t>Software Requirements</a:t>
            </a:r>
          </a:p>
          <a:p>
            <a:pPr algn="l" marL="382821" indent="-191411" lvl="1">
              <a:lnSpc>
                <a:spcPts val="2482"/>
              </a:lnSpc>
              <a:buFont typeface="Arial"/>
              <a:buChar char="•"/>
            </a:pPr>
            <a:r>
              <a:rPr lang="en-US" sz="1773">
                <a:solidFill>
                  <a:srgbClr val="026855"/>
                </a:solidFill>
                <a:latin typeface="Cambria"/>
                <a:ea typeface="Cambria"/>
                <a:cs typeface="Cambria"/>
                <a:sym typeface="Cambria"/>
              </a:rPr>
              <a:t>We will need a user-friendly web or mobile interface, a secure login system, and a database to store students' schedules, assignments, notes, and progress records. Cloud storage and synchronization will allow students to access their information across devices, while calendar and notification services will help them keep track of classes, deadlines, and examinations.</a:t>
            </a:r>
          </a:p>
          <a:p>
            <a:pPr algn="l" marL="382821" indent="-191411" lvl="1">
              <a:lnSpc>
                <a:spcPts val="2482"/>
              </a:lnSpc>
              <a:buFont typeface="Arial"/>
              <a:buChar char="•"/>
            </a:pPr>
            <a:r>
              <a:rPr lang="en-US" sz="1773">
                <a:solidFill>
                  <a:srgbClr val="026855"/>
                </a:solidFill>
                <a:latin typeface="Cambria"/>
                <a:ea typeface="Cambria"/>
                <a:cs typeface="Cambria"/>
                <a:sym typeface="Cambria"/>
              </a:rPr>
              <a:t>We also plan to explore AI-powered features such as motivational sessions, summarizing study materials, generating flashcards and practice questions, and helping students organize their revision. Progress-tracking tools will help students understand their study habits and monitor their goals. Security measures, regular backups, and thorough testing will be essential to keep the application reliable and protect students' personal information.</a:t>
            </a:r>
          </a:p>
        </p:txBody>
      </p:sp>
      <p:sp>
        <p:nvSpPr>
          <p:cNvPr name="TextBox 43" id="43"/>
          <p:cNvSpPr txBox="true"/>
          <p:nvPr/>
        </p:nvSpPr>
        <p:spPr>
          <a:xfrm rot="0">
            <a:off x="1508760" y="6855505"/>
            <a:ext cx="15286482" cy="1101503"/>
          </a:xfrm>
          <a:prstGeom prst="rect">
            <a:avLst/>
          </a:prstGeom>
        </p:spPr>
        <p:txBody>
          <a:bodyPr anchor="t" rtlCol="false" tIns="0" lIns="0" bIns="0" rIns="0">
            <a:spAutoFit/>
          </a:bodyPr>
          <a:lstStyle/>
          <a:p>
            <a:pPr algn="l" marL="699427" indent="-349713" lvl="1">
              <a:lnSpc>
                <a:spcPts val="3887"/>
              </a:lnSpc>
              <a:buFont typeface="Arial"/>
              <a:buChar char="•"/>
            </a:pPr>
            <a:r>
              <a:rPr lang="en-US" sz="3239">
                <a:solidFill>
                  <a:srgbClr val="026855"/>
                </a:solidFill>
                <a:latin typeface="Cambria"/>
                <a:ea typeface="Cambria"/>
                <a:cs typeface="Cambria"/>
                <a:sym typeface="Cambria"/>
              </a:rPr>
              <a:t>Other Resources, Including Human Resources</a:t>
            </a:r>
          </a:p>
          <a:p>
            <a:pPr algn="l" marL="382821" indent="-191411" lvl="1">
              <a:lnSpc>
                <a:spcPts val="2482"/>
              </a:lnSpc>
              <a:buFont typeface="Arial"/>
              <a:buChar char="•"/>
            </a:pPr>
            <a:r>
              <a:rPr lang="en-US" sz="1773">
                <a:solidFill>
                  <a:srgbClr val="026855"/>
                </a:solidFill>
                <a:latin typeface="Cambria"/>
                <a:ea typeface="Cambria"/>
                <a:cs typeface="Cambria"/>
                <a:sym typeface="Cambria"/>
              </a:rPr>
              <a:t>Apart from technology, we need regular feedback from students to understand their actual academic difficulties and identify the features they need most. Guidance from faculty members or mentors will help us evaluate the practicality of our solution.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1154353"/>
            <a:chOff x="0" y="0"/>
            <a:chExt cx="15239390" cy="1539137"/>
          </a:xfrm>
        </p:grpSpPr>
        <p:sp>
          <p:nvSpPr>
            <p:cNvPr name="Freeform 9" id="9"/>
            <p:cNvSpPr/>
            <p:nvPr/>
          </p:nvSpPr>
          <p:spPr>
            <a:xfrm flipH="false" flipV="false" rot="0">
              <a:off x="0" y="0"/>
              <a:ext cx="15239391" cy="1539137"/>
            </a:xfrm>
            <a:custGeom>
              <a:avLst/>
              <a:gdLst/>
              <a:ahLst/>
              <a:cxnLst/>
              <a:rect r="r" b="b" t="t" l="l"/>
              <a:pathLst>
                <a:path h="1539137" w="15239391">
                  <a:moveTo>
                    <a:pt x="0" y="0"/>
                  </a:moveTo>
                  <a:lnTo>
                    <a:pt x="15239391" y="0"/>
                  </a:lnTo>
                  <a:lnTo>
                    <a:pt x="15239391" y="1539137"/>
                  </a:lnTo>
                  <a:lnTo>
                    <a:pt x="0" y="1539137"/>
                  </a:lnTo>
                  <a:close/>
                </a:path>
              </a:pathLst>
            </a:custGeom>
            <a:blipFill>
              <a:blip r:embed="rId4">
                <a:alphaModFix amt="0"/>
              </a:blip>
              <a:stretch>
                <a:fillRect l="0" t="-160250" r="0" b="-125601"/>
              </a:stretch>
            </a:blipFill>
          </p:spPr>
        </p:sp>
        <p:sp>
          <p:nvSpPr>
            <p:cNvPr name="TextBox 10" id="10"/>
            <p:cNvSpPr txBox="true"/>
            <p:nvPr/>
          </p:nvSpPr>
          <p:spPr>
            <a:xfrm>
              <a:off x="0" y="0"/>
              <a:ext cx="15239390" cy="1539137"/>
            </a:xfrm>
            <a:prstGeom prst="rect">
              <a:avLst/>
            </a:prstGeom>
          </p:spPr>
          <p:txBody>
            <a:bodyPr anchor="ctr" rtlCol="false" tIns="0" lIns="0" bIns="0" rIns="0"/>
            <a:lstStyle/>
            <a:p>
              <a:pPr algn="ctr">
                <a:lnSpc>
                  <a:spcPts val="1889"/>
                </a:lnSpc>
              </a:pPr>
              <a:r>
                <a:rPr lang="en-US" sz="1575" spc="150">
                  <a:solidFill>
                    <a:srgbClr val="D3E6DD"/>
                  </a:solidFill>
                  <a:latin typeface="Cambria"/>
                  <a:ea typeface="Cambria"/>
                  <a:cs typeface="Cambria"/>
                  <a:sym typeface="Cambria"/>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INITIAL DIRECTION &amp; EXPECTED OUTCOME</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590115"/>
            <a:chOff x="0" y="0"/>
            <a:chExt cx="3255264" cy="2120153"/>
          </a:xfrm>
        </p:grpSpPr>
        <p:sp>
          <p:nvSpPr>
            <p:cNvPr name="Freeform 29" id="29"/>
            <p:cNvSpPr/>
            <p:nvPr/>
          </p:nvSpPr>
          <p:spPr>
            <a:xfrm flipH="false" flipV="false" rot="0">
              <a:off x="0" y="0"/>
              <a:ext cx="3255264" cy="2120153"/>
            </a:xfrm>
            <a:custGeom>
              <a:avLst/>
              <a:gdLst/>
              <a:ahLst/>
              <a:cxnLst/>
              <a:rect r="r" b="b" t="t" l="l"/>
              <a:pathLst>
                <a:path h="2120153" w="3255264">
                  <a:moveTo>
                    <a:pt x="0" y="0"/>
                  </a:moveTo>
                  <a:lnTo>
                    <a:pt x="3255264" y="0"/>
                  </a:lnTo>
                  <a:lnTo>
                    <a:pt x="3255264" y="2120153"/>
                  </a:lnTo>
                  <a:lnTo>
                    <a:pt x="0" y="2120153"/>
                  </a:lnTo>
                  <a:close/>
                </a:path>
              </a:pathLst>
            </a:custGeom>
            <a:blipFill>
              <a:blip r:embed="rId4">
                <a:alphaModFix amt="0"/>
              </a:blip>
              <a:stretch>
                <a:fillRect l="-4781" t="0" r="-4781" b="34443"/>
              </a:stretch>
            </a:blipFill>
          </p:spPr>
        </p:sp>
        <p:sp>
          <p:nvSpPr>
            <p:cNvPr name="TextBox 30" id="30"/>
            <p:cNvSpPr txBox="true"/>
            <p:nvPr/>
          </p:nvSpPr>
          <p:spPr>
            <a:xfrm>
              <a:off x="0" y="-19050"/>
              <a:ext cx="3255264" cy="2139203"/>
            </a:xfrm>
            <a:prstGeom prst="rect">
              <a:avLst/>
            </a:prstGeom>
          </p:spPr>
          <p:txBody>
            <a:bodyPr anchor="ctr" rtlCol="false" tIns="0" lIns="0" bIns="0" rIns="0"/>
            <a:lstStyle/>
            <a:p>
              <a:pPr algn="l">
                <a:lnSpc>
                  <a:spcPts val="1620"/>
                </a:lnSpc>
              </a:pPr>
              <a:r>
                <a:rPr lang="en-US" b="true" sz="1350" spc="449">
                  <a:solidFill>
                    <a:srgbClr val="5B6F6B"/>
                  </a:solidFill>
                  <a:latin typeface="Cambria Bold"/>
                  <a:ea typeface="Cambria Bold"/>
                  <a:cs typeface="Cambria Bold"/>
                  <a:sym typeface="Cambria Bold"/>
                </a:rPr>
                <a:t>TEAM</a:t>
              </a:r>
            </a:p>
            <a:p>
              <a:pPr algn="l">
                <a:lnSpc>
                  <a:spcPts val="2700"/>
                </a:lnSpc>
              </a:pPr>
              <a:r>
                <a:rPr lang="en-US" b="true" sz="2250" spc="749">
                  <a:solidFill>
                    <a:srgbClr val="026855"/>
                  </a:solidFill>
                  <a:latin typeface="Cambria Bold"/>
                  <a:ea typeface="Cambria Bold"/>
                  <a:cs typeface="Cambria Bold"/>
                  <a:sym typeface="Cambria Bold"/>
                </a:rPr>
                <a:t>IN</a:t>
              </a:r>
              <a:r>
                <a:rPr lang="en-US" b="true" sz="2250" spc="749">
                  <a:solidFill>
                    <a:srgbClr val="026855"/>
                  </a:solidFill>
                  <a:latin typeface="Cambria Bold"/>
                  <a:ea typeface="Cambria Bold"/>
                  <a:cs typeface="Cambria Bold"/>
                  <a:sym typeface="Cambria Bold"/>
                </a:rPr>
                <a:t>NOVITA</a:t>
              </a:r>
            </a:p>
          </p:txBody>
        </p:sp>
      </p:grpSp>
      <p:grpSp>
        <p:nvGrpSpPr>
          <p:cNvPr name="Group 31" id="31"/>
          <p:cNvGrpSpPr/>
          <p:nvPr/>
        </p:nvGrpSpPr>
        <p:grpSpPr>
          <a:xfrm rot="0">
            <a:off x="822960" y="2194560"/>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652778" y="1500691"/>
            <a:ext cx="14401800" cy="1980269"/>
            <a:chOff x="0" y="0"/>
            <a:chExt cx="19202400" cy="2640359"/>
          </a:xfrm>
        </p:grpSpPr>
        <p:sp>
          <p:nvSpPr>
            <p:cNvPr name="Freeform 36" id="36"/>
            <p:cNvSpPr/>
            <p:nvPr/>
          </p:nvSpPr>
          <p:spPr>
            <a:xfrm flipH="false" flipV="false" rot="0">
              <a:off x="0" y="0"/>
              <a:ext cx="19202400" cy="2640359"/>
            </a:xfrm>
            <a:custGeom>
              <a:avLst/>
              <a:gdLst/>
              <a:ahLst/>
              <a:cxnLst/>
              <a:rect r="r" b="b" t="t" l="l"/>
              <a:pathLst>
                <a:path h="2640359" w="19202400">
                  <a:moveTo>
                    <a:pt x="0" y="0"/>
                  </a:moveTo>
                  <a:lnTo>
                    <a:pt x="19202400" y="0"/>
                  </a:lnTo>
                  <a:lnTo>
                    <a:pt x="19202400" y="2640359"/>
                  </a:lnTo>
                  <a:lnTo>
                    <a:pt x="0" y="2640359"/>
                  </a:lnTo>
                  <a:close/>
                </a:path>
              </a:pathLst>
            </a:custGeom>
            <a:blipFill>
              <a:blip r:embed="rId4">
                <a:alphaModFix amt="0"/>
              </a:blip>
              <a:stretch>
                <a:fillRect l="0" t="-122660" r="0" b="-60755"/>
              </a:stretch>
            </a:blipFill>
          </p:spPr>
        </p:sp>
        <p:sp>
          <p:nvSpPr>
            <p:cNvPr name="TextBox 37" id="37"/>
            <p:cNvSpPr txBox="true"/>
            <p:nvPr/>
          </p:nvSpPr>
          <p:spPr>
            <a:xfrm>
              <a:off x="0" y="-19050"/>
              <a:ext cx="19202400" cy="2659409"/>
            </a:xfrm>
            <a:prstGeom prst="rect">
              <a:avLst/>
            </a:prstGeom>
          </p:spPr>
          <p:txBody>
            <a:bodyPr anchor="ctr" rtlCol="false" tIns="0" lIns="0" bIns="0" rIns="0"/>
            <a:lstStyle/>
            <a:p>
              <a:pPr algn="l">
                <a:lnSpc>
                  <a:spcPts val="3240"/>
                </a:lnSpc>
              </a:pPr>
              <a:r>
                <a:rPr lang="en-US" sz="2700" b="true">
                  <a:solidFill>
                    <a:srgbClr val="094542"/>
                  </a:solidFill>
                  <a:latin typeface="Cambria Bold"/>
                  <a:ea typeface="Cambria Bold"/>
                  <a:cs typeface="Cambria Bold"/>
                  <a:sym typeface="Cambria Bold"/>
                </a:rPr>
                <a:t>What Is Your Expected Outcome?</a:t>
              </a:r>
            </a:p>
          </p:txBody>
        </p:sp>
      </p:grpSp>
      <p:sp>
        <p:nvSpPr>
          <p:cNvPr name="TextBox 38" id="38"/>
          <p:cNvSpPr txBox="true"/>
          <p:nvPr/>
        </p:nvSpPr>
        <p:spPr>
          <a:xfrm rot="0">
            <a:off x="1165860" y="2861310"/>
            <a:ext cx="15636240" cy="6982131"/>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26855"/>
                </a:solidFill>
                <a:latin typeface="Cambria"/>
                <a:ea typeface="Cambria"/>
                <a:cs typeface="Cambria"/>
                <a:sym typeface="Cambria"/>
              </a:rPr>
              <a:t>What your team intends to do</a:t>
            </a:r>
          </a:p>
          <a:p>
            <a:pPr algn="l" marL="488632" indent="-244316" lvl="1">
              <a:lnSpc>
                <a:spcPts val="3240"/>
              </a:lnSpc>
              <a:buFont typeface="Arial"/>
              <a:buChar char="•"/>
            </a:pPr>
            <a:r>
              <a:rPr lang="en-US" sz="2700">
                <a:solidFill>
                  <a:srgbClr val="026855"/>
                </a:solidFill>
                <a:latin typeface="Cambria"/>
                <a:ea typeface="Cambria"/>
                <a:cs typeface="Cambria"/>
                <a:sym typeface="Cambria"/>
              </a:rPr>
              <a:t>One stop solution to all academic issues; single online platform to connect dots across studies,productivity,motivation and access to study reserves;Our ultimate aim is to bring out students from a stressed situation and handle hectic workloads smartly . </a:t>
            </a:r>
          </a:p>
          <a:p>
            <a:pPr algn="l" marL="488632" indent="-244316" lvl="1">
              <a:lnSpc>
                <a:spcPts val="3240"/>
              </a:lnSpc>
              <a:buFont typeface="Arial"/>
              <a:buChar char="•"/>
            </a:pPr>
            <a:r>
              <a:rPr lang="en-US" sz="2700">
                <a:solidFill>
                  <a:srgbClr val="026855"/>
                </a:solidFill>
                <a:latin typeface="Cambria"/>
                <a:ea typeface="Cambria"/>
                <a:cs typeface="Cambria"/>
                <a:sym typeface="Cambria"/>
              </a:rPr>
              <a:t>What you want to improve</a:t>
            </a:r>
          </a:p>
          <a:p>
            <a:pPr algn="l" marL="488632" indent="-244316" lvl="1">
              <a:lnSpc>
                <a:spcPts val="3240"/>
              </a:lnSpc>
              <a:buFont typeface="Arial"/>
              <a:buChar char="•"/>
            </a:pPr>
            <a:r>
              <a:rPr lang="en-US" sz="2700">
                <a:solidFill>
                  <a:srgbClr val="026855"/>
                </a:solidFill>
                <a:latin typeface="Cambria"/>
                <a:ea typeface="Cambria"/>
                <a:cs typeface="Cambria"/>
                <a:sym typeface="Cambria"/>
              </a:rPr>
              <a:t>a better app that handles all problems of a students acting as a captivating interface ,which can be easily accessed by students.</a:t>
            </a:r>
          </a:p>
          <a:p>
            <a:pPr algn="l" marL="488632" indent="-244316" lvl="1">
              <a:lnSpc>
                <a:spcPts val="3240"/>
              </a:lnSpc>
              <a:buFont typeface="Arial"/>
              <a:buChar char="•"/>
            </a:pPr>
            <a:r>
              <a:rPr lang="en-US" sz="2700">
                <a:solidFill>
                  <a:srgbClr val="026855"/>
                </a:solidFill>
                <a:latin typeface="Cambria"/>
                <a:ea typeface="Cambria"/>
                <a:cs typeface="Cambria"/>
                <a:sym typeface="Cambria"/>
              </a:rPr>
              <a:t>centralised reserve for schedules,assignments,notes and reserves that other apps lack at an institution level.</a:t>
            </a:r>
          </a:p>
          <a:p>
            <a:pPr algn="l" marL="488632" indent="-244316" lvl="1">
              <a:lnSpc>
                <a:spcPts val="3240"/>
              </a:lnSpc>
              <a:buFont typeface="Arial"/>
              <a:buChar char="•"/>
            </a:pPr>
            <a:r>
              <a:rPr lang="en-US" sz="2700">
                <a:solidFill>
                  <a:srgbClr val="026855"/>
                </a:solidFill>
                <a:latin typeface="Cambria"/>
                <a:ea typeface="Cambria"/>
                <a:cs typeface="Cambria"/>
                <a:sym typeface="Cambria"/>
              </a:rPr>
              <a:t>the app provides progress tracking and streak maintaining also badges with values which helps build portfolio</a:t>
            </a:r>
          </a:p>
          <a:p>
            <a:pPr algn="l" marL="488632" indent="-244316" lvl="1">
              <a:lnSpc>
                <a:spcPts val="3240"/>
              </a:lnSpc>
              <a:buFont typeface="Arial"/>
              <a:buChar char="•"/>
            </a:pPr>
            <a:r>
              <a:rPr lang="en-US" sz="2700">
                <a:solidFill>
                  <a:srgbClr val="026855"/>
                </a:solidFill>
                <a:latin typeface="Cambria"/>
                <a:ea typeface="Cambria"/>
                <a:cs typeface="Cambria"/>
                <a:sym typeface="Cambria"/>
              </a:rPr>
              <a:t>What successful improvement should you achieve</a:t>
            </a:r>
          </a:p>
          <a:p>
            <a:pPr algn="l" marL="488632" indent="-244316" lvl="1">
              <a:lnSpc>
                <a:spcPts val="3240"/>
              </a:lnSpc>
              <a:buFont typeface="Arial"/>
              <a:buChar char="•"/>
            </a:pPr>
            <a:r>
              <a:rPr lang="en-US" sz="2700">
                <a:solidFill>
                  <a:srgbClr val="026855"/>
                </a:solidFill>
                <a:latin typeface="Cambria"/>
                <a:ea typeface="Cambria"/>
                <a:cs typeface="Cambria"/>
                <a:sym typeface="Cambria"/>
              </a:rPr>
              <a:t>Better Time Management</a:t>
            </a:r>
          </a:p>
          <a:p>
            <a:pPr algn="l" marL="488632" indent="-244316" lvl="1">
              <a:lnSpc>
                <a:spcPts val="3240"/>
              </a:lnSpc>
              <a:buFont typeface="Arial"/>
              <a:buChar char="•"/>
            </a:pPr>
            <a:r>
              <a:rPr lang="en-US" sz="2700">
                <a:solidFill>
                  <a:srgbClr val="026855"/>
                </a:solidFill>
                <a:latin typeface="Cambria"/>
                <a:ea typeface="Cambria"/>
                <a:cs typeface="Cambria"/>
                <a:sym typeface="Cambria"/>
              </a:rPr>
              <a:t>Improved Study Consistency</a:t>
            </a:r>
          </a:p>
          <a:p>
            <a:pPr algn="l" marL="488632" indent="-244316" lvl="1">
              <a:lnSpc>
                <a:spcPts val="3240"/>
              </a:lnSpc>
              <a:buFont typeface="Arial"/>
              <a:buChar char="•"/>
            </a:pPr>
            <a:r>
              <a:rPr lang="en-US" sz="2700">
                <a:solidFill>
                  <a:srgbClr val="026855"/>
                </a:solidFill>
                <a:latin typeface="Cambria"/>
                <a:ea typeface="Cambria"/>
                <a:cs typeface="Cambria"/>
                <a:sym typeface="Cambria"/>
              </a:rPr>
              <a:t>Faster Revision</a:t>
            </a:r>
          </a:p>
          <a:p>
            <a:pPr algn="l" marL="488632" indent="-244316" lvl="1">
              <a:lnSpc>
                <a:spcPts val="3240"/>
              </a:lnSpc>
              <a:buFont typeface="Arial"/>
              <a:buChar char="•"/>
            </a:pPr>
            <a:r>
              <a:rPr lang="en-US" sz="2700">
                <a:solidFill>
                  <a:srgbClr val="026855"/>
                </a:solidFill>
                <a:latin typeface="Cambria"/>
                <a:ea typeface="Cambria"/>
                <a:cs typeface="Cambria"/>
                <a:sym typeface="Cambria"/>
              </a:rPr>
              <a:t>Clear Progress Tracking</a:t>
            </a:r>
          </a:p>
          <a:p>
            <a:pPr algn="l">
              <a:lnSpc>
                <a:spcPts val="3240"/>
              </a:lnSpc>
            </a:pPr>
          </a:p>
        </p:txBody>
      </p:sp>
      <p:grpSp>
        <p:nvGrpSpPr>
          <p:cNvPr name="Group 39" id="39"/>
          <p:cNvGrpSpPr/>
          <p:nvPr/>
        </p:nvGrpSpPr>
        <p:grpSpPr>
          <a:xfrm rot="0">
            <a:off x="16888511" y="9614916"/>
            <a:ext cx="685800" cy="1207544"/>
            <a:chOff x="0" y="0"/>
            <a:chExt cx="914400" cy="1610058"/>
          </a:xfrm>
        </p:grpSpPr>
        <p:sp>
          <p:nvSpPr>
            <p:cNvPr name="Freeform 40" id="40"/>
            <p:cNvSpPr/>
            <p:nvPr/>
          </p:nvSpPr>
          <p:spPr>
            <a:xfrm flipH="false" flipV="false" rot="0">
              <a:off x="0" y="0"/>
              <a:ext cx="914400" cy="1610058"/>
            </a:xfrm>
            <a:custGeom>
              <a:avLst/>
              <a:gdLst/>
              <a:ahLst/>
              <a:cxnLst/>
              <a:rect r="r" b="b" t="t" l="l"/>
              <a:pathLst>
                <a:path h="1610058" w="914400">
                  <a:moveTo>
                    <a:pt x="0" y="0"/>
                  </a:moveTo>
                  <a:lnTo>
                    <a:pt x="914400" y="0"/>
                  </a:lnTo>
                  <a:lnTo>
                    <a:pt x="914400" y="1610058"/>
                  </a:lnTo>
                  <a:lnTo>
                    <a:pt x="0" y="1610058"/>
                  </a:lnTo>
                  <a:close/>
                </a:path>
              </a:pathLst>
            </a:custGeom>
            <a:blipFill>
              <a:blip r:embed="rId4">
                <a:alphaModFix amt="0"/>
              </a:blip>
              <a:stretch>
                <a:fillRect l="-61110" t="0" r="-61110" b="50817"/>
              </a:stretch>
            </a:blipFill>
          </p:spPr>
        </p:sp>
        <p:sp>
          <p:nvSpPr>
            <p:cNvPr name="TextBox 41" id="41"/>
            <p:cNvSpPr txBox="true"/>
            <p:nvPr/>
          </p:nvSpPr>
          <p:spPr>
            <a:xfrm>
              <a:off x="0" y="0"/>
              <a:ext cx="914400" cy="1610058"/>
            </a:xfrm>
            <a:prstGeom prst="rect">
              <a:avLst/>
            </a:prstGeom>
          </p:spPr>
          <p:txBody>
            <a:bodyPr anchor="ctr" rtlCol="false" tIns="0" lIns="0" bIns="0" rIns="0"/>
            <a:lstStyle/>
            <a:p>
              <a:pPr algn="ctr">
                <a:lnSpc>
                  <a:spcPts val="1980"/>
                </a:lnSpc>
              </a:pPr>
              <a:r>
                <a:rPr lang="en-US" sz="1650" b="true">
                  <a:solidFill>
                    <a:srgbClr val="052B35"/>
                  </a:solidFill>
                  <a:latin typeface="Cambria Bold"/>
                  <a:ea typeface="Cambria Bold"/>
                  <a:cs typeface="Cambria Bold"/>
                  <a:sym typeface="Cambria Bold"/>
                </a:rPr>
                <a:t>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1154353"/>
            <a:chOff x="0" y="0"/>
            <a:chExt cx="15239390" cy="1539137"/>
          </a:xfrm>
        </p:grpSpPr>
        <p:sp>
          <p:nvSpPr>
            <p:cNvPr name="Freeform 9" id="9"/>
            <p:cNvSpPr/>
            <p:nvPr/>
          </p:nvSpPr>
          <p:spPr>
            <a:xfrm flipH="false" flipV="false" rot="0">
              <a:off x="0" y="0"/>
              <a:ext cx="15239391" cy="1539137"/>
            </a:xfrm>
            <a:custGeom>
              <a:avLst/>
              <a:gdLst/>
              <a:ahLst/>
              <a:cxnLst/>
              <a:rect r="r" b="b" t="t" l="l"/>
              <a:pathLst>
                <a:path h="1539137" w="15239391">
                  <a:moveTo>
                    <a:pt x="0" y="0"/>
                  </a:moveTo>
                  <a:lnTo>
                    <a:pt x="15239391" y="0"/>
                  </a:lnTo>
                  <a:lnTo>
                    <a:pt x="15239391" y="1539137"/>
                  </a:lnTo>
                  <a:lnTo>
                    <a:pt x="0" y="1539137"/>
                  </a:lnTo>
                  <a:close/>
                </a:path>
              </a:pathLst>
            </a:custGeom>
            <a:blipFill>
              <a:blip r:embed="rId4">
                <a:alphaModFix amt="0"/>
              </a:blip>
              <a:stretch>
                <a:fillRect l="0" t="-160250" r="0" b="-125601"/>
              </a:stretch>
            </a:blipFill>
          </p:spPr>
        </p:sp>
        <p:sp>
          <p:nvSpPr>
            <p:cNvPr name="TextBox 10" id="10"/>
            <p:cNvSpPr txBox="true"/>
            <p:nvPr/>
          </p:nvSpPr>
          <p:spPr>
            <a:xfrm>
              <a:off x="0" y="0"/>
              <a:ext cx="15239390" cy="1539137"/>
            </a:xfrm>
            <a:prstGeom prst="rect">
              <a:avLst/>
            </a:prstGeom>
          </p:spPr>
          <p:txBody>
            <a:bodyPr anchor="ctr" rtlCol="false" tIns="0" lIns="0" bIns="0" rIns="0"/>
            <a:lstStyle/>
            <a:p>
              <a:pPr algn="ctr">
                <a:lnSpc>
                  <a:spcPts val="1889"/>
                </a:lnSpc>
              </a:pPr>
              <a:r>
                <a:rPr lang="en-US" sz="1575" spc="150">
                  <a:solidFill>
                    <a:srgbClr val="D3E6DD"/>
                  </a:solidFill>
                  <a:latin typeface="Cambria"/>
                  <a:ea typeface="Cambria"/>
                  <a:cs typeface="Cambria"/>
                  <a:sym typeface="Cambria"/>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2802792" y="20574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TEAM CONTRIBUTION</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590115"/>
            <a:chOff x="0" y="0"/>
            <a:chExt cx="3255264" cy="2120153"/>
          </a:xfrm>
        </p:grpSpPr>
        <p:sp>
          <p:nvSpPr>
            <p:cNvPr name="Freeform 29" id="29"/>
            <p:cNvSpPr/>
            <p:nvPr/>
          </p:nvSpPr>
          <p:spPr>
            <a:xfrm flipH="false" flipV="false" rot="0">
              <a:off x="0" y="0"/>
              <a:ext cx="3255264" cy="2120153"/>
            </a:xfrm>
            <a:custGeom>
              <a:avLst/>
              <a:gdLst/>
              <a:ahLst/>
              <a:cxnLst/>
              <a:rect r="r" b="b" t="t" l="l"/>
              <a:pathLst>
                <a:path h="2120153" w="3255264">
                  <a:moveTo>
                    <a:pt x="0" y="0"/>
                  </a:moveTo>
                  <a:lnTo>
                    <a:pt x="3255264" y="0"/>
                  </a:lnTo>
                  <a:lnTo>
                    <a:pt x="3255264" y="2120153"/>
                  </a:lnTo>
                  <a:lnTo>
                    <a:pt x="0" y="2120153"/>
                  </a:lnTo>
                  <a:close/>
                </a:path>
              </a:pathLst>
            </a:custGeom>
            <a:blipFill>
              <a:blip r:embed="rId4">
                <a:alphaModFix amt="0"/>
              </a:blip>
              <a:stretch>
                <a:fillRect l="-4781" t="0" r="-4781" b="34443"/>
              </a:stretch>
            </a:blipFill>
          </p:spPr>
        </p:sp>
        <p:sp>
          <p:nvSpPr>
            <p:cNvPr name="TextBox 30" id="30"/>
            <p:cNvSpPr txBox="true"/>
            <p:nvPr/>
          </p:nvSpPr>
          <p:spPr>
            <a:xfrm>
              <a:off x="0" y="-19050"/>
              <a:ext cx="3255264" cy="2139203"/>
            </a:xfrm>
            <a:prstGeom prst="rect">
              <a:avLst/>
            </a:prstGeom>
          </p:spPr>
          <p:txBody>
            <a:bodyPr anchor="ctr" rtlCol="false" tIns="0" lIns="0" bIns="0" rIns="0"/>
            <a:lstStyle/>
            <a:p>
              <a:pPr algn="l">
                <a:lnSpc>
                  <a:spcPts val="1620"/>
                </a:lnSpc>
              </a:pPr>
              <a:r>
                <a:rPr lang="en-US" b="true" sz="1350" spc="449">
                  <a:solidFill>
                    <a:srgbClr val="5B6F6B"/>
                  </a:solidFill>
                  <a:latin typeface="Cambria Bold"/>
                  <a:ea typeface="Cambria Bold"/>
                  <a:cs typeface="Cambria Bold"/>
                  <a:sym typeface="Cambria Bold"/>
                </a:rPr>
                <a:t>TEAM</a:t>
              </a:r>
            </a:p>
            <a:p>
              <a:pPr algn="l">
                <a:lnSpc>
                  <a:spcPts val="2700"/>
                </a:lnSpc>
              </a:pPr>
              <a:r>
                <a:rPr lang="en-US" b="true" sz="2250" spc="749">
                  <a:solidFill>
                    <a:srgbClr val="026855"/>
                  </a:solidFill>
                  <a:latin typeface="Cambria Bold"/>
                  <a:ea typeface="Cambria Bold"/>
                  <a:cs typeface="Cambria Bold"/>
                  <a:sym typeface="Cambria Bold"/>
                </a:rPr>
                <a:t>IN</a:t>
              </a:r>
              <a:r>
                <a:rPr lang="en-US" b="true" sz="2250" spc="749">
                  <a:solidFill>
                    <a:srgbClr val="026855"/>
                  </a:solidFill>
                  <a:latin typeface="Cambria Bold"/>
                  <a:ea typeface="Cambria Bold"/>
                  <a:cs typeface="Cambria Bold"/>
                  <a:sym typeface="Cambria Bold"/>
                </a:rPr>
                <a:t>NOVITA</a:t>
              </a:r>
            </a:p>
          </p:txBody>
        </p:sp>
      </p:grpSp>
      <p:grpSp>
        <p:nvGrpSpPr>
          <p:cNvPr name="Group 31" id="31"/>
          <p:cNvGrpSpPr/>
          <p:nvPr/>
        </p:nvGrpSpPr>
        <p:grpSpPr>
          <a:xfrm rot="0">
            <a:off x="966978" y="1515904"/>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1104138" y="1607355"/>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714500" y="822960"/>
            <a:ext cx="14401800" cy="1980269"/>
            <a:chOff x="0" y="0"/>
            <a:chExt cx="19202400" cy="2640359"/>
          </a:xfrm>
        </p:grpSpPr>
        <p:sp>
          <p:nvSpPr>
            <p:cNvPr name="Freeform 36" id="36"/>
            <p:cNvSpPr/>
            <p:nvPr/>
          </p:nvSpPr>
          <p:spPr>
            <a:xfrm flipH="false" flipV="false" rot="0">
              <a:off x="0" y="0"/>
              <a:ext cx="19202400" cy="2640359"/>
            </a:xfrm>
            <a:custGeom>
              <a:avLst/>
              <a:gdLst/>
              <a:ahLst/>
              <a:cxnLst/>
              <a:rect r="r" b="b" t="t" l="l"/>
              <a:pathLst>
                <a:path h="2640359" w="19202400">
                  <a:moveTo>
                    <a:pt x="0" y="0"/>
                  </a:moveTo>
                  <a:lnTo>
                    <a:pt x="19202400" y="0"/>
                  </a:lnTo>
                  <a:lnTo>
                    <a:pt x="19202400" y="2640359"/>
                  </a:lnTo>
                  <a:lnTo>
                    <a:pt x="0" y="2640359"/>
                  </a:lnTo>
                  <a:close/>
                </a:path>
              </a:pathLst>
            </a:custGeom>
            <a:blipFill>
              <a:blip r:embed="rId4">
                <a:alphaModFix amt="0"/>
              </a:blip>
              <a:stretch>
                <a:fillRect l="0" t="-122660" r="0" b="-60755"/>
              </a:stretch>
            </a:blipFill>
          </p:spPr>
        </p:sp>
        <p:sp>
          <p:nvSpPr>
            <p:cNvPr name="TextBox 37" id="37"/>
            <p:cNvSpPr txBox="true"/>
            <p:nvPr/>
          </p:nvSpPr>
          <p:spPr>
            <a:xfrm>
              <a:off x="0" y="-19050"/>
              <a:ext cx="19202400" cy="2659409"/>
            </a:xfrm>
            <a:prstGeom prst="rect">
              <a:avLst/>
            </a:prstGeom>
          </p:spPr>
          <p:txBody>
            <a:bodyPr anchor="ctr" rtlCol="false" tIns="0" lIns="0" bIns="0" rIns="0"/>
            <a:lstStyle/>
            <a:p>
              <a:pPr algn="l">
                <a:lnSpc>
                  <a:spcPts val="3240"/>
                </a:lnSpc>
              </a:pPr>
              <a:r>
                <a:rPr lang="en-US" sz="2700" b="true">
                  <a:solidFill>
                    <a:srgbClr val="094542"/>
                  </a:solidFill>
                  <a:latin typeface="Cambria Bold"/>
                  <a:ea typeface="Cambria Bold"/>
                  <a:cs typeface="Cambria Bold"/>
                  <a:sym typeface="Cambria Bold"/>
                </a:rPr>
                <a:t>Who will handle which part of the execution</a:t>
              </a:r>
            </a:p>
          </p:txBody>
        </p:sp>
      </p:grpSp>
      <p:graphicFrame>
        <p:nvGraphicFramePr>
          <p:cNvPr name="Table 38" id="38"/>
          <p:cNvGraphicFramePr>
            <a:graphicFrameLocks noGrp="true"/>
          </p:cNvGraphicFramePr>
          <p:nvPr/>
        </p:nvGraphicFramePr>
        <p:xfrm>
          <a:off x="2292303" y="2018835"/>
          <a:ext cx="12566240" cy="7766641"/>
        </p:xfrm>
        <a:graphic>
          <a:graphicData uri="http://schemas.openxmlformats.org/drawingml/2006/table">
            <a:tbl>
              <a:tblPr/>
              <a:tblGrid>
                <a:gridCol w="3977096"/>
                <a:gridCol w="3977096"/>
                <a:gridCol w="4612049"/>
              </a:tblGrid>
              <a:tr h="1554481">
                <a:tc>
                  <a:txBody>
                    <a:bodyPr anchor="t" rtlCol="false"/>
                    <a:lstStyle/>
                    <a:p>
                      <a:pPr algn="l">
                        <a:lnSpc>
                          <a:spcPts val="2280"/>
                        </a:lnSpc>
                        <a:defRPr/>
                      </a:pPr>
                      <a:r>
                        <a:rPr lang="en-US" sz="1900" b="true">
                          <a:solidFill>
                            <a:srgbClr val="FFFFFF"/>
                          </a:solidFill>
                          <a:latin typeface="Cambria Bold"/>
                          <a:ea typeface="Cambria Bold"/>
                          <a:cs typeface="Cambria Bold"/>
                          <a:sym typeface="Cambria Bold"/>
                        </a:rPr>
                        <a:t>Team Member</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026855"/>
                    </a:solidFill>
                  </a:tcPr>
                </a:tc>
                <a:tc>
                  <a:txBody>
                    <a:bodyPr anchor="t" rtlCol="false"/>
                    <a:lstStyle/>
                    <a:p>
                      <a:pPr algn="l">
                        <a:lnSpc>
                          <a:spcPts val="2280"/>
                        </a:lnSpc>
                        <a:defRPr/>
                      </a:pPr>
                      <a:r>
                        <a:rPr lang="en-US" sz="1900" b="true">
                          <a:solidFill>
                            <a:srgbClr val="FFFFFF"/>
                          </a:solidFill>
                          <a:latin typeface="Cambria Bold"/>
                          <a:ea typeface="Cambria Bold"/>
                          <a:cs typeface="Cambria Bold"/>
                          <a:sym typeface="Cambria Bold"/>
                        </a:rPr>
                        <a:t>Role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026855"/>
                    </a:solidFill>
                  </a:tcPr>
                </a:tc>
                <a:tc>
                  <a:txBody>
                    <a:bodyPr anchor="t" rtlCol="false"/>
                    <a:lstStyle/>
                    <a:p>
                      <a:pPr algn="l">
                        <a:lnSpc>
                          <a:spcPts val="2280"/>
                        </a:lnSpc>
                        <a:defRPr/>
                      </a:pPr>
                      <a:r>
                        <a:rPr lang="en-US" sz="1900" b="true">
                          <a:solidFill>
                            <a:srgbClr val="FFFFFF"/>
                          </a:solidFill>
                          <a:latin typeface="Cambria Bold"/>
                          <a:ea typeface="Cambria Bold"/>
                          <a:cs typeface="Cambria Bold"/>
                          <a:sym typeface="Cambria Bold"/>
                        </a:rPr>
                        <a:t>Responsibility in Execution</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026855"/>
                    </a:solidFill>
                  </a:tcPr>
                </a:tc>
              </a:tr>
              <a:tr h="1548715">
                <a:tc>
                  <a:txBody>
                    <a:bodyPr anchor="t" rtlCol="false"/>
                    <a:lstStyle/>
                    <a:p>
                      <a:pPr algn="l">
                        <a:lnSpc>
                          <a:spcPts val="2280"/>
                        </a:lnSpc>
                        <a:defRPr/>
                      </a:pPr>
                      <a:r>
                        <a:rPr lang="en-US" sz="1900" b="true">
                          <a:solidFill>
                            <a:srgbClr val="0E2A2F"/>
                          </a:solidFill>
                          <a:latin typeface="Cambria Bold"/>
                          <a:ea typeface="Cambria Bold"/>
                          <a:cs typeface="Cambria Bold"/>
                          <a:sym typeface="Cambria Bold"/>
                        </a:rPr>
                        <a:t>Member 1 name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280"/>
                        </a:lnSpc>
                        <a:defRPr/>
                      </a:pPr>
                      <a:r>
                        <a:rPr lang="en-US" sz="1900">
                          <a:solidFill>
                            <a:srgbClr val="5B6F6B"/>
                          </a:solidFill>
                          <a:latin typeface="Cambria"/>
                          <a:ea typeface="Cambria"/>
                          <a:cs typeface="Cambria"/>
                          <a:sym typeface="Cambria"/>
                        </a:rPr>
                        <a:t>Role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280"/>
                        </a:lnSpc>
                        <a:defRPr/>
                      </a:pPr>
                      <a:r>
                        <a:rPr lang="en-US" sz="1900">
                          <a:solidFill>
                            <a:srgbClr val="5B6F6B"/>
                          </a:solidFill>
                          <a:latin typeface="Cambria"/>
                          <a:ea typeface="Cambria"/>
                          <a:cs typeface="Cambria"/>
                          <a:sym typeface="Cambria"/>
                        </a:rPr>
                        <a:t>What they will handle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r h="1554481">
                <a:tc>
                  <a:txBody>
                    <a:bodyPr anchor="t" rtlCol="false"/>
                    <a:lstStyle/>
                    <a:p>
                      <a:pPr algn="l">
                        <a:lnSpc>
                          <a:spcPts val="2520"/>
                        </a:lnSpc>
                        <a:defRPr/>
                      </a:pPr>
                      <a:r>
                        <a:rPr lang="en-US" sz="2100" b="true">
                          <a:solidFill>
                            <a:srgbClr val="0E2A2F"/>
                          </a:solidFill>
                          <a:latin typeface="Cambria Bold"/>
                          <a:ea typeface="Cambria Bold"/>
                          <a:cs typeface="Cambria Bold"/>
                          <a:sym typeface="Cambria Bold"/>
                        </a:rPr>
                        <a:t>Member 2 name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mbria"/>
                          <a:ea typeface="Cambria"/>
                          <a:cs typeface="Cambria"/>
                          <a:sym typeface="Cambria"/>
                        </a:rPr>
                        <a:t>Role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mbria"/>
                          <a:ea typeface="Cambria"/>
                          <a:cs typeface="Cambria"/>
                          <a:sym typeface="Cambria"/>
                        </a:rPr>
                        <a:t>What they will handle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r h="1554481">
                <a:tc>
                  <a:txBody>
                    <a:bodyPr anchor="t" rtlCol="false"/>
                    <a:lstStyle/>
                    <a:p>
                      <a:pPr algn="l">
                        <a:lnSpc>
                          <a:spcPts val="2520"/>
                        </a:lnSpc>
                        <a:defRPr/>
                      </a:pPr>
                      <a:r>
                        <a:rPr lang="en-US" sz="2100" b="true">
                          <a:solidFill>
                            <a:srgbClr val="0E2A2F"/>
                          </a:solidFill>
                          <a:latin typeface="Cambria Bold"/>
                          <a:ea typeface="Cambria Bold"/>
                          <a:cs typeface="Cambria Bold"/>
                          <a:sym typeface="Cambria Bold"/>
                        </a:rPr>
                        <a:t>Member 3 name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mbria"/>
                          <a:ea typeface="Cambria"/>
                          <a:cs typeface="Cambria"/>
                          <a:sym typeface="Cambria"/>
                        </a:rPr>
                        <a:t>Role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mbria"/>
                          <a:ea typeface="Cambria"/>
                          <a:cs typeface="Cambria"/>
                          <a:sym typeface="Cambria"/>
                        </a:rPr>
                        <a:t>What they will handle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r h="1554481">
                <a:tc>
                  <a:txBody>
                    <a:bodyPr anchor="t" rtlCol="false"/>
                    <a:lstStyle/>
                    <a:p>
                      <a:pPr algn="l">
                        <a:lnSpc>
                          <a:spcPts val="2520"/>
                        </a:lnSpc>
                        <a:defRPr/>
                      </a:pPr>
                      <a:r>
                        <a:rPr lang="en-US" sz="2100" b="true">
                          <a:solidFill>
                            <a:srgbClr val="0E2A2F"/>
                          </a:solidFill>
                          <a:latin typeface="Cambria Bold"/>
                          <a:ea typeface="Cambria Bold"/>
                          <a:cs typeface="Cambria Bold"/>
                          <a:sym typeface="Cambria Bold"/>
                        </a:rPr>
                        <a:t>Member 4 name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mbria"/>
                          <a:ea typeface="Cambria"/>
                          <a:cs typeface="Cambria"/>
                          <a:sym typeface="Cambria"/>
                        </a:rPr>
                        <a:t>Role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mbria"/>
                          <a:ea typeface="Cambria"/>
                          <a:cs typeface="Cambria"/>
                          <a:sym typeface="Cambria"/>
                        </a:rPr>
                        <a:t>What they will handle</a:t>
                      </a:r>
                      <a:endParaRPr lang="en-US" sz="1100"/>
                    </a:p>
                  </a:txBody>
                  <a:tcPr marL="0" marR="0" marT="0" marB="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bl>
          </a:graphicData>
        </a:graphic>
      </p:graphicFrame>
      <p:grpSp>
        <p:nvGrpSpPr>
          <p:cNvPr name="Group 39" id="39"/>
          <p:cNvGrpSpPr/>
          <p:nvPr/>
        </p:nvGrpSpPr>
        <p:grpSpPr>
          <a:xfrm rot="0">
            <a:off x="16888511" y="9614916"/>
            <a:ext cx="685800" cy="1207544"/>
            <a:chOff x="0" y="0"/>
            <a:chExt cx="914400" cy="1610058"/>
          </a:xfrm>
        </p:grpSpPr>
        <p:sp>
          <p:nvSpPr>
            <p:cNvPr name="Freeform 40" id="40"/>
            <p:cNvSpPr/>
            <p:nvPr/>
          </p:nvSpPr>
          <p:spPr>
            <a:xfrm flipH="false" flipV="false" rot="0">
              <a:off x="0" y="0"/>
              <a:ext cx="914400" cy="1610058"/>
            </a:xfrm>
            <a:custGeom>
              <a:avLst/>
              <a:gdLst/>
              <a:ahLst/>
              <a:cxnLst/>
              <a:rect r="r" b="b" t="t" l="l"/>
              <a:pathLst>
                <a:path h="1610058" w="914400">
                  <a:moveTo>
                    <a:pt x="0" y="0"/>
                  </a:moveTo>
                  <a:lnTo>
                    <a:pt x="914400" y="0"/>
                  </a:lnTo>
                  <a:lnTo>
                    <a:pt x="914400" y="1610058"/>
                  </a:lnTo>
                  <a:lnTo>
                    <a:pt x="0" y="1610058"/>
                  </a:lnTo>
                  <a:close/>
                </a:path>
              </a:pathLst>
            </a:custGeom>
            <a:blipFill>
              <a:blip r:embed="rId4">
                <a:alphaModFix amt="0"/>
              </a:blip>
              <a:stretch>
                <a:fillRect l="-61110" t="0" r="-61110" b="50817"/>
              </a:stretch>
            </a:blipFill>
          </p:spPr>
        </p:sp>
        <p:sp>
          <p:nvSpPr>
            <p:cNvPr name="TextBox 41" id="41"/>
            <p:cNvSpPr txBox="true"/>
            <p:nvPr/>
          </p:nvSpPr>
          <p:spPr>
            <a:xfrm>
              <a:off x="0" y="0"/>
              <a:ext cx="914400" cy="1610058"/>
            </a:xfrm>
            <a:prstGeom prst="rect">
              <a:avLst/>
            </a:prstGeom>
          </p:spPr>
          <p:txBody>
            <a:bodyPr anchor="ctr" rtlCol="false" tIns="0" lIns="0" bIns="0" rIns="0"/>
            <a:lstStyle/>
            <a:p>
              <a:pPr algn="ctr">
                <a:lnSpc>
                  <a:spcPts val="1980"/>
                </a:lnSpc>
              </a:pPr>
              <a:r>
                <a:rPr lang="en-US" sz="1650" b="true">
                  <a:solidFill>
                    <a:srgbClr val="052B35"/>
                  </a:solidFill>
                  <a:latin typeface="Cambria Bold"/>
                  <a:ea typeface="Cambria Bold"/>
                  <a:cs typeface="Cambria Bold"/>
                  <a:sym typeface="Cambria Bold"/>
                </a:rPr>
                <a:t>9</a:t>
              </a:r>
            </a:p>
          </p:txBody>
        </p:sp>
      </p:grpSp>
    </p:spTree>
  </p:cSld>
  <p:clrMapOvr>
    <a:masterClrMapping/>
  </p:clrMapOvr>
</p:sld>
</file>

<file path=ppt/slides/slide10.xml><?xml version="1.0" encoding="utf-8"?>
<p:sld xmlns:p="http://schemas.openxmlformats.org/presentationml/2006/main" xmlns:a="http://schemas.openxmlformats.org/drawingml/2006/main">
  <p:cSld>
    <p:bg>
      <p:bgPr>
        <a:solidFill>
          <a:srgbClr val="F3F8F5"/>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DAHXhb7thgg</dc:identifier>
  <dcterms:modified xsi:type="dcterms:W3CDTF">2011-08-01T06:04:30Z</dcterms:modified>
  <cp:revision>1</cp:revision>
  <dc:title>genesis 2 (1).pptx</dc:title>
</cp:coreProperties>
</file>